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TT Commons Pro Bold" charset="1" panose="020B0103030102020204"/>
      <p:regular r:id="rId29"/>
    </p:embeddedFont>
    <p:embeddedFont>
      <p:font typeface="TT Commons Pro" charset="1" panose="020B0103030102020204"/>
      <p:regular r:id="rId30"/>
    </p:embeddedFont>
    <p:embeddedFont>
      <p:font typeface="Open Sans 2 Bold" charset="1" panose="00000000000000000000"/>
      <p:regular r:id="rId31"/>
    </p:embeddedFont>
    <p:embeddedFont>
      <p:font typeface="Coco Gothic Bold" charset="1" panose="00000000000000000000"/>
      <p:regular r:id="rId32"/>
    </p:embeddedFont>
    <p:embeddedFont>
      <p:font typeface="Open Sans 1 Bold" charset="1" panose="020B0806030504020204"/>
      <p:regular r:id="rId33"/>
    </p:embeddedFont>
    <p:embeddedFont>
      <p:font typeface="Coco Gothic" charset="1" panose="00000000000000000000"/>
      <p:regular r:id="rId34"/>
    </p:embeddedFont>
    <p:embeddedFont>
      <p:font typeface="Nourd" charset="1" panose="0000050000000000000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png" Type="http://schemas.openxmlformats.org/officeDocument/2006/relationships/image"/><Relationship Id="rId4" Target="../media/image4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51.png" Type="http://schemas.openxmlformats.org/officeDocument/2006/relationships/image"/><Relationship Id="rId5" Target="../media/image52.png" Type="http://schemas.openxmlformats.org/officeDocument/2006/relationships/image"/><Relationship Id="rId6" Target="../media/image53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embeddings/oleObject1.bin" Type="http://schemas.openxmlformats.org/officeDocument/2006/relationships/oleObject"/><Relationship Id="rId4" Target="../media/image5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61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57400" y="-406408"/>
            <a:ext cx="3086100" cy="11733565"/>
            <a:chOff x="0" y="0"/>
            <a:chExt cx="812800" cy="30903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3090322"/>
            </a:xfrm>
            <a:custGeom>
              <a:avLst/>
              <a:gdLst/>
              <a:ahLst/>
              <a:cxnLst/>
              <a:rect r="r" b="b" t="t" l="l"/>
              <a:pathLst>
                <a:path h="309032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090322"/>
                  </a:lnTo>
                  <a:lnTo>
                    <a:pt x="0" y="3090322"/>
                  </a:lnTo>
                  <a:close/>
                </a:path>
              </a:pathLst>
            </a:custGeom>
            <a:solidFill>
              <a:srgbClr val="0912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2800" cy="3128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11244" y="9467519"/>
            <a:ext cx="18283474" cy="1088654"/>
            <a:chOff x="0" y="0"/>
            <a:chExt cx="4815401" cy="2867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5401" cy="286724"/>
            </a:xfrm>
            <a:custGeom>
              <a:avLst/>
              <a:gdLst/>
              <a:ahLst/>
              <a:cxnLst/>
              <a:rect r="r" b="b" t="t" l="l"/>
              <a:pathLst>
                <a:path h="286724" w="4815401">
                  <a:moveTo>
                    <a:pt x="0" y="0"/>
                  </a:moveTo>
                  <a:lnTo>
                    <a:pt x="4815401" y="0"/>
                  </a:lnTo>
                  <a:lnTo>
                    <a:pt x="4815401" y="286724"/>
                  </a:lnTo>
                  <a:lnTo>
                    <a:pt x="0" y="286724"/>
                  </a:lnTo>
                  <a:close/>
                </a:path>
              </a:pathLst>
            </a:custGeom>
            <a:solidFill>
              <a:srgbClr val="87A1D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15401" cy="3248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44553" y="6963731"/>
            <a:ext cx="1091236" cy="1119739"/>
          </a:xfrm>
          <a:custGeom>
            <a:avLst/>
            <a:gdLst/>
            <a:ahLst/>
            <a:cxnLst/>
            <a:rect r="r" b="b" t="t" l="l"/>
            <a:pathLst>
              <a:path h="1119739" w="1091236">
                <a:moveTo>
                  <a:pt x="0" y="0"/>
                </a:moveTo>
                <a:lnTo>
                  <a:pt x="1091237" y="0"/>
                </a:lnTo>
                <a:lnTo>
                  <a:pt x="1091237" y="1119739"/>
                </a:lnTo>
                <a:lnTo>
                  <a:pt x="0" y="11197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1790171" y="5737527"/>
            <a:ext cx="15469129" cy="0"/>
          </a:xfrm>
          <a:prstGeom prst="line">
            <a:avLst/>
          </a:prstGeom>
          <a:ln cap="flat" w="57150">
            <a:solidFill>
              <a:srgbClr val="0912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6561704" y="360795"/>
            <a:ext cx="1078553" cy="1279639"/>
          </a:xfrm>
          <a:custGeom>
            <a:avLst/>
            <a:gdLst/>
            <a:ahLst/>
            <a:cxnLst/>
            <a:rect r="r" b="b" t="t" l="l"/>
            <a:pathLst>
              <a:path h="1279639" w="1078553">
                <a:moveTo>
                  <a:pt x="0" y="0"/>
                </a:moveTo>
                <a:lnTo>
                  <a:pt x="1078553" y="0"/>
                </a:lnTo>
                <a:lnTo>
                  <a:pt x="1078553" y="1279639"/>
                </a:lnTo>
                <a:lnTo>
                  <a:pt x="0" y="1279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90865" y="2832565"/>
            <a:ext cx="15168435" cy="2255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88"/>
              </a:lnSpc>
              <a:spcBef>
                <a:spcPct val="0"/>
              </a:spcBef>
            </a:pPr>
            <a:r>
              <a:rPr lang="en-US" b="true" sz="8062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Predicting Online Purchase Intention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8987" y="8697581"/>
            <a:ext cx="18055731" cy="1587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8"/>
              </a:lnSpc>
            </a:pPr>
            <a:r>
              <a:rPr lang="en-US" sz="3842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Amel Borghol |BA/MRKT         Imen Saad| BA/IT           Ahed Telmoudi |BA/MRKT</a:t>
            </a:r>
          </a:p>
          <a:p>
            <a:pPr algn="l">
              <a:lnSpc>
                <a:spcPts val="4188"/>
              </a:lnSpc>
            </a:pPr>
            <a:r>
              <a:rPr lang="en-US" sz="3842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</a:p>
          <a:p>
            <a:pPr algn="l" marL="0" indent="0" lvl="0">
              <a:lnSpc>
                <a:spcPts val="4188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554865" y="6906581"/>
            <a:ext cx="12238940" cy="145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63"/>
              </a:lnSpc>
            </a:pPr>
            <a:r>
              <a:rPr lang="en-US" sz="2799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Prof. Dr. Aloui Donia </a:t>
            </a:r>
          </a:p>
          <a:p>
            <a:pPr algn="just">
              <a:lnSpc>
                <a:spcPts val="3863"/>
              </a:lnSpc>
            </a:pPr>
            <a:r>
              <a:rPr lang="en-US" sz="2799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•University of Tunis – Tunis Business School</a:t>
            </a:r>
          </a:p>
          <a:p>
            <a:pPr algn="just" marL="0" indent="0" lvl="0">
              <a:lnSpc>
                <a:spcPts val="3863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57400" y="-406408"/>
            <a:ext cx="2579264" cy="11733565"/>
            <a:chOff x="0" y="0"/>
            <a:chExt cx="679312" cy="30903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9312" cy="3090322"/>
            </a:xfrm>
            <a:custGeom>
              <a:avLst/>
              <a:gdLst/>
              <a:ahLst/>
              <a:cxnLst/>
              <a:rect r="r" b="b" t="t" l="l"/>
              <a:pathLst>
                <a:path h="3090322" w="679312">
                  <a:moveTo>
                    <a:pt x="0" y="0"/>
                  </a:moveTo>
                  <a:lnTo>
                    <a:pt x="679312" y="0"/>
                  </a:lnTo>
                  <a:lnTo>
                    <a:pt x="679312" y="3090322"/>
                  </a:lnTo>
                  <a:lnTo>
                    <a:pt x="0" y="3090322"/>
                  </a:lnTo>
                  <a:close/>
                </a:path>
              </a:pathLst>
            </a:custGeom>
            <a:solidFill>
              <a:srgbClr val="09125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79312" cy="3128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26" y="9819816"/>
            <a:ext cx="18283474" cy="848023"/>
            <a:chOff x="0" y="0"/>
            <a:chExt cx="4815401" cy="2233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5401" cy="223348"/>
            </a:xfrm>
            <a:custGeom>
              <a:avLst/>
              <a:gdLst/>
              <a:ahLst/>
              <a:cxnLst/>
              <a:rect r="r" b="b" t="t" l="l"/>
              <a:pathLst>
                <a:path h="223348" w="4815401">
                  <a:moveTo>
                    <a:pt x="0" y="0"/>
                  </a:moveTo>
                  <a:lnTo>
                    <a:pt x="4815401" y="0"/>
                  </a:lnTo>
                  <a:lnTo>
                    <a:pt x="4815401" y="223348"/>
                  </a:lnTo>
                  <a:lnTo>
                    <a:pt x="0" y="223348"/>
                  </a:lnTo>
                  <a:close/>
                </a:path>
              </a:pathLst>
            </a:custGeom>
            <a:solidFill>
              <a:srgbClr val="87A1D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15401" cy="261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2315479"/>
            <a:ext cx="16723098" cy="6927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6"/>
              </a:lnSpc>
            </a:pPr>
            <a:r>
              <a:rPr lang="en-US" sz="3879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In e-commerce, a large proportion of website visitors leave without making a purchase. Understanding which sessions are likely to result in a purchase allows businesses to make smarter, data driven decisions across multiple areas:</a:t>
            </a:r>
          </a:p>
          <a:p>
            <a:pPr algn="l" marL="751300" indent="-375650" lvl="1">
              <a:lnSpc>
                <a:spcPts val="5880"/>
              </a:lnSpc>
              <a:buFont typeface="Arial"/>
              <a:buChar char="•"/>
            </a:pPr>
            <a:r>
              <a:rPr lang="en-US" b="true" sz="3479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Real-Time Personalization</a:t>
            </a:r>
          </a:p>
          <a:p>
            <a:pPr algn="l" marL="751300" indent="-375650" lvl="1">
              <a:lnSpc>
                <a:spcPts val="5880"/>
              </a:lnSpc>
              <a:buFont typeface="Arial"/>
              <a:buChar char="•"/>
            </a:pPr>
            <a:r>
              <a:rPr lang="en-US" b="true" sz="3479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Marketing Budget Allocation</a:t>
            </a:r>
          </a:p>
          <a:p>
            <a:pPr algn="l" marL="751300" indent="-375650" lvl="1">
              <a:lnSpc>
                <a:spcPts val="5880"/>
              </a:lnSpc>
              <a:buFont typeface="Arial"/>
              <a:buChar char="•"/>
            </a:pPr>
            <a:r>
              <a:rPr lang="en-US" b="true" sz="3479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Customer Service Prioritization</a:t>
            </a:r>
          </a:p>
          <a:p>
            <a:pPr algn="l" marL="751300" indent="-375650" lvl="1">
              <a:lnSpc>
                <a:spcPts val="5880"/>
              </a:lnSpc>
              <a:buFont typeface="Arial"/>
              <a:buChar char="•"/>
            </a:pPr>
            <a:r>
              <a:rPr lang="en-US" b="true" sz="3479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Inventory and Operational Planning</a:t>
            </a:r>
          </a:p>
          <a:p>
            <a:pPr algn="l" marL="751300" indent="-375650" lvl="1">
              <a:lnSpc>
                <a:spcPts val="5880"/>
              </a:lnSpc>
              <a:buFont typeface="Arial"/>
              <a:buChar char="•"/>
            </a:pPr>
            <a:r>
              <a:rPr lang="en-US" b="true" sz="3479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Website Optimization</a:t>
            </a:r>
          </a:p>
          <a:p>
            <a:pPr algn="l">
              <a:lnSpc>
                <a:spcPts val="6218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429121" y="6865135"/>
            <a:ext cx="2437774" cy="2770198"/>
          </a:xfrm>
          <a:custGeom>
            <a:avLst/>
            <a:gdLst/>
            <a:ahLst/>
            <a:cxnLst/>
            <a:rect r="r" b="b" t="t" l="l"/>
            <a:pathLst>
              <a:path h="2770198" w="2437774">
                <a:moveTo>
                  <a:pt x="0" y="0"/>
                </a:moveTo>
                <a:lnTo>
                  <a:pt x="2437774" y="0"/>
                </a:lnTo>
                <a:lnTo>
                  <a:pt x="2437774" y="2770197"/>
                </a:lnTo>
                <a:lnTo>
                  <a:pt x="0" y="27701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12050" y="420050"/>
            <a:ext cx="1617267" cy="1499648"/>
          </a:xfrm>
          <a:custGeom>
            <a:avLst/>
            <a:gdLst/>
            <a:ahLst/>
            <a:cxnLst/>
            <a:rect r="r" b="b" t="t" l="l"/>
            <a:pathLst>
              <a:path h="1499648" w="1617267">
                <a:moveTo>
                  <a:pt x="0" y="0"/>
                </a:moveTo>
                <a:lnTo>
                  <a:pt x="1617267" y="0"/>
                </a:lnTo>
                <a:lnTo>
                  <a:pt x="1617267" y="1499648"/>
                </a:lnTo>
                <a:lnTo>
                  <a:pt x="0" y="14996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504573" y="505775"/>
            <a:ext cx="11283379" cy="101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98"/>
              </a:lnSpc>
              <a:spcBef>
                <a:spcPct val="0"/>
              </a:spcBef>
            </a:pPr>
            <a:r>
              <a:rPr lang="en-US" b="true" sz="7245" u="sng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PROBLEM STATEMENT </a:t>
            </a:r>
          </a:p>
        </p:txBody>
      </p:sp>
    </p:spTree>
  </p:cSld>
  <p:clrMapOvr>
    <a:masterClrMapping/>
  </p:clrMapOvr>
  <p:transition spd="fast">
    <p:wipe dir="r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4001" y="1885786"/>
            <a:ext cx="17386358" cy="6829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1"/>
              </a:lnSpc>
            </a:pPr>
            <a:r>
              <a:rPr lang="en-US" sz="4433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  <a:r>
              <a:rPr lang="en-US" sz="4433" b="true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Research Objective:</a:t>
            </a:r>
          </a:p>
          <a:p>
            <a:pPr algn="l">
              <a:lnSpc>
                <a:spcPts val="4666"/>
              </a:lnSpc>
            </a:pPr>
            <a:r>
              <a:rPr lang="en-US" sz="3733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The objective of this project is to apply supervised classification techniques to predict the binary target variable Revenue, which indicates whether a user session resulted in a completed purchase.</a:t>
            </a:r>
          </a:p>
          <a:p>
            <a:pPr algn="l">
              <a:lnSpc>
                <a:spcPts val="4666"/>
              </a:lnSpc>
            </a:pPr>
          </a:p>
          <a:p>
            <a:pPr algn="l">
              <a:lnSpc>
                <a:spcPts val="5541"/>
              </a:lnSpc>
            </a:pPr>
            <a:r>
              <a:rPr lang="en-US" sz="4433" b="true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Research Questions:</a:t>
            </a:r>
          </a:p>
          <a:p>
            <a:pPr algn="l" marL="806080" indent="-403040" lvl="1">
              <a:lnSpc>
                <a:spcPts val="4666"/>
              </a:lnSpc>
              <a:buAutoNum type="arabicPeriod" startAt="1"/>
            </a:pPr>
            <a:r>
              <a:rPr lang="en-US" sz="3733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 Can we accurately predict whether a session will result in a purchase?</a:t>
            </a:r>
          </a:p>
          <a:p>
            <a:pPr algn="l" marL="806080" indent="-403040" lvl="1">
              <a:lnSpc>
                <a:spcPts val="4666"/>
              </a:lnSpc>
              <a:buAutoNum type="arabicPeriod" startAt="1"/>
            </a:pPr>
            <a:r>
              <a:rPr lang="en-US" sz="3733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Which features are the strongest predictors of purchase intent?</a:t>
            </a:r>
          </a:p>
          <a:p>
            <a:pPr algn="l" marL="806080" indent="-403040" lvl="1">
              <a:lnSpc>
                <a:spcPts val="4666"/>
              </a:lnSpc>
              <a:buAutoNum type="arabicPeriod" startAt="1"/>
            </a:pPr>
            <a:r>
              <a:rPr lang="en-US" sz="3733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Which classification model performs best on this dataset, and why?</a:t>
            </a:r>
          </a:p>
          <a:p>
            <a:pPr algn="l" marL="0" indent="0" lvl="0">
              <a:lnSpc>
                <a:spcPts val="4916"/>
              </a:lnSpc>
            </a:pPr>
          </a:p>
          <a:p>
            <a:pPr algn="ctr" marL="0" indent="0" lvl="0">
              <a:lnSpc>
                <a:spcPts val="5541"/>
              </a:lnSpc>
            </a:pP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-348727" y="9467519"/>
          <a:ext cx="19191814" cy="1326482"/>
        </p:xfrm>
        <a:graphic>
          <a:graphicData uri="http://schemas.openxmlformats.org/drawingml/2006/table">
            <a:tbl>
              <a:tblPr/>
              <a:tblGrid>
                <a:gridCol w="19191814"/>
              </a:tblGrid>
              <a:tr h="9515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259"/>
                    </a:solidFill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372183">
            <a:off x="16005035" y="229618"/>
            <a:ext cx="1854410" cy="1598164"/>
          </a:xfrm>
          <a:custGeom>
            <a:avLst/>
            <a:gdLst/>
            <a:ahLst/>
            <a:cxnLst/>
            <a:rect r="r" b="b" t="t" l="l"/>
            <a:pathLst>
              <a:path h="1598164" w="1854410">
                <a:moveTo>
                  <a:pt x="0" y="0"/>
                </a:moveTo>
                <a:lnTo>
                  <a:pt x="1854410" y="0"/>
                </a:lnTo>
                <a:lnTo>
                  <a:pt x="1854410" y="1598164"/>
                </a:lnTo>
                <a:lnTo>
                  <a:pt x="0" y="15981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-348727" y="9467519"/>
          <a:ext cx="19191814" cy="1326482"/>
        </p:xfrm>
        <a:graphic>
          <a:graphicData uri="http://schemas.openxmlformats.org/drawingml/2006/table">
            <a:tbl>
              <a:tblPr/>
              <a:tblGrid>
                <a:gridCol w="19191814"/>
              </a:tblGrid>
              <a:tr h="9515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259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16418776" y="8745537"/>
            <a:ext cx="1869224" cy="2048464"/>
          </a:xfrm>
          <a:custGeom>
            <a:avLst/>
            <a:gdLst/>
            <a:ahLst/>
            <a:cxnLst/>
            <a:rect r="r" b="b" t="t" l="l"/>
            <a:pathLst>
              <a:path h="2048464" w="1869224">
                <a:moveTo>
                  <a:pt x="0" y="0"/>
                </a:moveTo>
                <a:lnTo>
                  <a:pt x="1869224" y="0"/>
                </a:lnTo>
                <a:lnTo>
                  <a:pt x="1869224" y="2048464"/>
                </a:lnTo>
                <a:lnTo>
                  <a:pt x="0" y="2048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47180" y="2582721"/>
            <a:ext cx="9040820" cy="4805194"/>
          </a:xfrm>
          <a:custGeom>
            <a:avLst/>
            <a:gdLst/>
            <a:ahLst/>
            <a:cxnLst/>
            <a:rect r="r" b="b" t="t" l="l"/>
            <a:pathLst>
              <a:path h="4805194" w="9040820">
                <a:moveTo>
                  <a:pt x="0" y="0"/>
                </a:moveTo>
                <a:lnTo>
                  <a:pt x="9040820" y="0"/>
                </a:lnTo>
                <a:lnTo>
                  <a:pt x="9040820" y="4805194"/>
                </a:lnTo>
                <a:lnTo>
                  <a:pt x="0" y="48051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18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7688" y="1646880"/>
            <a:ext cx="8916312" cy="574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b="true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What is the dataset?</a:t>
            </a:r>
          </a:p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The Online Shoppers Purchasing Intention Dataset captures real browsing sessions on an </a:t>
            </a:r>
          </a:p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e-commerce platform. </a:t>
            </a:r>
          </a:p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Each row is one visit, recording what pages were viewed, how long the user stayed, technical details, and whether the session ended in a purchase.</a:t>
            </a:r>
          </a:p>
          <a:p>
            <a:pPr algn="l">
              <a:lnSpc>
                <a:spcPts val="4620"/>
              </a:lnSpc>
            </a:pPr>
          </a:p>
          <a:p>
            <a:pPr algn="l">
              <a:lnSpc>
                <a:spcPts val="363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353946" y="246824"/>
            <a:ext cx="7580108" cy="78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9"/>
              </a:lnSpc>
              <a:spcBef>
                <a:spcPct val="0"/>
              </a:spcBef>
            </a:pPr>
            <a:r>
              <a:rPr lang="en-US" b="true" sz="5513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Dataset Description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7688" y="6253797"/>
            <a:ext cx="8916312" cy="2773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true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Source &amp; Collection</a:t>
            </a:r>
          </a:p>
          <a:p>
            <a:pPr algn="l">
              <a:lnSpc>
                <a:spcPts val="4620"/>
              </a:lnSpc>
            </a:pPr>
            <a:r>
              <a:rPr lang="en-US" sz="330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Publicly available on the UCI Machine Learning Repository and Kaggle. Collected by researchers studying e-commerce user behavior.</a:t>
            </a:r>
          </a:p>
          <a:p>
            <a:pPr algn="l">
              <a:lnSpc>
                <a:spcPts val="3639"/>
              </a:lnSpc>
            </a:pPr>
          </a:p>
        </p:txBody>
      </p:sp>
    </p:spTree>
  </p:cSld>
  <p:clrMapOvr>
    <a:masterClrMapping/>
  </p:clrMapOvr>
  <p:transition spd="fast">
    <p:wipe dir="r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-348727" y="9769769"/>
          <a:ext cx="19191814" cy="1024232"/>
        </p:xfrm>
        <a:graphic>
          <a:graphicData uri="http://schemas.openxmlformats.org/drawingml/2006/table">
            <a:tbl>
              <a:tblPr/>
              <a:tblGrid>
                <a:gridCol w="19191814"/>
              </a:tblGrid>
              <a:tr h="5672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259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16418776" y="8745537"/>
            <a:ext cx="1869224" cy="2048464"/>
          </a:xfrm>
          <a:custGeom>
            <a:avLst/>
            <a:gdLst/>
            <a:ahLst/>
            <a:cxnLst/>
            <a:rect r="r" b="b" t="t" l="l"/>
            <a:pathLst>
              <a:path h="2048464" w="1869224">
                <a:moveTo>
                  <a:pt x="0" y="0"/>
                </a:moveTo>
                <a:lnTo>
                  <a:pt x="1869224" y="0"/>
                </a:lnTo>
                <a:lnTo>
                  <a:pt x="1869224" y="2048464"/>
                </a:lnTo>
                <a:lnTo>
                  <a:pt x="0" y="2048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39833" y="3032735"/>
            <a:ext cx="14014693" cy="6443442"/>
          </a:xfrm>
          <a:custGeom>
            <a:avLst/>
            <a:gdLst/>
            <a:ahLst/>
            <a:cxnLst/>
            <a:rect r="r" b="b" t="t" l="l"/>
            <a:pathLst>
              <a:path h="6443442" w="14014693">
                <a:moveTo>
                  <a:pt x="0" y="0"/>
                </a:moveTo>
                <a:lnTo>
                  <a:pt x="14014693" y="0"/>
                </a:lnTo>
                <a:lnTo>
                  <a:pt x="14014693" y="6443442"/>
                </a:lnTo>
                <a:lnTo>
                  <a:pt x="0" y="64434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14" r="0" b="-121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744972" y="246824"/>
            <a:ext cx="7580108" cy="78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09"/>
              </a:lnSpc>
              <a:spcBef>
                <a:spcPct val="0"/>
              </a:spcBef>
            </a:pPr>
            <a:r>
              <a:rPr lang="en-US" b="true" sz="5513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Dataset Description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2723" y="1425962"/>
            <a:ext cx="16884607" cy="1313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Each observation represents one user session on the e-commerce website. </a:t>
            </a:r>
          </a:p>
          <a:p>
            <a:pPr algn="ctr">
              <a:lnSpc>
                <a:spcPts val="5319"/>
              </a:lnSpc>
            </a:pPr>
            <a:r>
              <a:rPr lang="en-US" sz="3799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The 18 variables fall into four categories: </a:t>
            </a:r>
          </a:p>
        </p:txBody>
      </p:sp>
    </p:spTree>
  </p:cSld>
  <p:clrMapOvr>
    <a:masterClrMapping/>
  </p:clrMapOvr>
  <p:transition spd="fast">
    <p:wipe dir="r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-348727" y="9467519"/>
          <a:ext cx="19191814" cy="1326482"/>
        </p:xfrm>
        <a:graphic>
          <a:graphicData uri="http://schemas.openxmlformats.org/drawingml/2006/table">
            <a:tbl>
              <a:tblPr/>
              <a:tblGrid>
                <a:gridCol w="19191814"/>
              </a:tblGrid>
              <a:tr h="9515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259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16418776" y="8745537"/>
            <a:ext cx="1869224" cy="2048464"/>
          </a:xfrm>
          <a:custGeom>
            <a:avLst/>
            <a:gdLst/>
            <a:ahLst/>
            <a:cxnLst/>
            <a:rect r="r" b="b" t="t" l="l"/>
            <a:pathLst>
              <a:path h="2048464" w="1869224">
                <a:moveTo>
                  <a:pt x="0" y="0"/>
                </a:moveTo>
                <a:lnTo>
                  <a:pt x="1869224" y="0"/>
                </a:lnTo>
                <a:lnTo>
                  <a:pt x="1869224" y="2048464"/>
                </a:lnTo>
                <a:lnTo>
                  <a:pt x="0" y="2048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7756" y="2377047"/>
            <a:ext cx="16592489" cy="5742125"/>
          </a:xfrm>
          <a:custGeom>
            <a:avLst/>
            <a:gdLst/>
            <a:ahLst/>
            <a:cxnLst/>
            <a:rect r="r" b="b" t="t" l="l"/>
            <a:pathLst>
              <a:path h="5742125" w="16592489">
                <a:moveTo>
                  <a:pt x="0" y="0"/>
                </a:moveTo>
                <a:lnTo>
                  <a:pt x="16592488" y="0"/>
                </a:lnTo>
                <a:lnTo>
                  <a:pt x="16592488" y="5742125"/>
                </a:lnTo>
                <a:lnTo>
                  <a:pt x="0" y="5742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06" r="0" b="-206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386954" y="670401"/>
            <a:ext cx="5514093" cy="783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18"/>
              </a:lnSpc>
              <a:spcBef>
                <a:spcPct val="0"/>
              </a:spcBef>
            </a:pPr>
            <a:r>
              <a:rPr lang="en-US" b="true" sz="5613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Data Preparation</a:t>
            </a:r>
          </a:p>
        </p:txBody>
      </p:sp>
    </p:spTree>
  </p:cSld>
  <p:clrMapOvr>
    <a:masterClrMapping/>
  </p:clrMapOvr>
  <p:transition spd="fast">
    <p:wipe dir="r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-348727" y="9467519"/>
          <a:ext cx="19191814" cy="1326482"/>
        </p:xfrm>
        <a:graphic>
          <a:graphicData uri="http://schemas.openxmlformats.org/drawingml/2006/table">
            <a:tbl>
              <a:tblPr/>
              <a:tblGrid>
                <a:gridCol w="19191814"/>
              </a:tblGrid>
              <a:tr h="9515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259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549047" y="1350411"/>
            <a:ext cx="8422785" cy="7693784"/>
          </a:xfrm>
          <a:custGeom>
            <a:avLst/>
            <a:gdLst/>
            <a:ahLst/>
            <a:cxnLst/>
            <a:rect r="r" b="b" t="t" l="l"/>
            <a:pathLst>
              <a:path h="7693784" w="8422785">
                <a:moveTo>
                  <a:pt x="0" y="0"/>
                </a:moveTo>
                <a:lnTo>
                  <a:pt x="8422785" y="0"/>
                </a:lnTo>
                <a:lnTo>
                  <a:pt x="8422785" y="7693783"/>
                </a:lnTo>
                <a:lnTo>
                  <a:pt x="0" y="76937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09" t="0" r="-709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536190" y="1550718"/>
            <a:ext cx="7484253" cy="7586179"/>
          </a:xfrm>
          <a:custGeom>
            <a:avLst/>
            <a:gdLst/>
            <a:ahLst/>
            <a:cxnLst/>
            <a:rect r="r" b="b" t="t" l="l"/>
            <a:pathLst>
              <a:path h="7586179" w="7484253">
                <a:moveTo>
                  <a:pt x="0" y="0"/>
                </a:moveTo>
                <a:lnTo>
                  <a:pt x="7484253" y="0"/>
                </a:lnTo>
                <a:lnTo>
                  <a:pt x="7484253" y="7586179"/>
                </a:lnTo>
                <a:lnTo>
                  <a:pt x="0" y="75861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225546" y="567138"/>
            <a:ext cx="5492572" cy="783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18"/>
              </a:lnSpc>
              <a:spcBef>
                <a:spcPct val="0"/>
              </a:spcBef>
            </a:pPr>
            <a:r>
              <a:rPr lang="en-US" b="true" sz="5613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Data Preparation</a:t>
            </a:r>
          </a:p>
        </p:txBody>
      </p:sp>
    </p:spTree>
  </p:cSld>
  <p:clrMapOvr>
    <a:masterClrMapping/>
  </p:clrMapOvr>
  <p:transition spd="fast">
    <p:wipe dir="r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-348727" y="9467519"/>
          <a:ext cx="19191814" cy="1326482"/>
        </p:xfrm>
        <a:graphic>
          <a:graphicData uri="http://schemas.openxmlformats.org/drawingml/2006/table">
            <a:tbl>
              <a:tblPr/>
              <a:tblGrid>
                <a:gridCol w="19191814"/>
              </a:tblGrid>
              <a:tr h="9515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259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1620475" y="2486994"/>
            <a:ext cx="15253409" cy="5313013"/>
          </a:xfrm>
          <a:custGeom>
            <a:avLst/>
            <a:gdLst/>
            <a:ahLst/>
            <a:cxnLst/>
            <a:rect r="r" b="b" t="t" l="l"/>
            <a:pathLst>
              <a:path h="5313013" w="15253409">
                <a:moveTo>
                  <a:pt x="0" y="0"/>
                </a:moveTo>
                <a:lnTo>
                  <a:pt x="15253410" y="0"/>
                </a:lnTo>
                <a:lnTo>
                  <a:pt x="15253410" y="5313012"/>
                </a:lnTo>
                <a:lnTo>
                  <a:pt x="0" y="53130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1" r="0" b="-241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08475" y="670401"/>
            <a:ext cx="5471051" cy="783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18"/>
              </a:lnSpc>
              <a:spcBef>
                <a:spcPct val="0"/>
              </a:spcBef>
            </a:pPr>
            <a:r>
              <a:rPr lang="en-US" b="true" sz="5613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Data Preparation</a:t>
            </a:r>
          </a:p>
        </p:txBody>
      </p:sp>
    </p:spTree>
  </p:cSld>
  <p:clrMapOvr>
    <a:masterClrMapping/>
  </p:clrMapOvr>
  <p:transition spd="fast">
    <p:wipe dir="r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-348727" y="9467519"/>
          <a:ext cx="19191814" cy="1326482"/>
        </p:xfrm>
        <a:graphic>
          <a:graphicData uri="http://schemas.openxmlformats.org/drawingml/2006/table">
            <a:tbl>
              <a:tblPr/>
              <a:tblGrid>
                <a:gridCol w="19191814"/>
              </a:tblGrid>
              <a:tr h="9515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259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10058102" y="1943843"/>
            <a:ext cx="9000430" cy="7523676"/>
          </a:xfrm>
          <a:custGeom>
            <a:avLst/>
            <a:gdLst/>
            <a:ahLst/>
            <a:cxnLst/>
            <a:rect r="r" b="b" t="t" l="l"/>
            <a:pathLst>
              <a:path h="7523676" w="9000430">
                <a:moveTo>
                  <a:pt x="0" y="0"/>
                </a:moveTo>
                <a:lnTo>
                  <a:pt x="9000430" y="0"/>
                </a:lnTo>
                <a:lnTo>
                  <a:pt x="9000430" y="7523676"/>
                </a:lnTo>
                <a:lnTo>
                  <a:pt x="0" y="75236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97714" y="670401"/>
            <a:ext cx="5492572" cy="783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18"/>
              </a:lnSpc>
              <a:spcBef>
                <a:spcPct val="0"/>
              </a:spcBef>
            </a:pPr>
            <a:r>
              <a:rPr lang="en-US" b="true" sz="5613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Data Preparation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5089" y="1943843"/>
            <a:ext cx="9913013" cy="6408126"/>
          </a:xfrm>
          <a:custGeom>
            <a:avLst/>
            <a:gdLst/>
            <a:ahLst/>
            <a:cxnLst/>
            <a:rect r="r" b="b" t="t" l="l"/>
            <a:pathLst>
              <a:path h="6408126" w="9913013">
                <a:moveTo>
                  <a:pt x="0" y="0"/>
                </a:moveTo>
                <a:lnTo>
                  <a:pt x="9913013" y="0"/>
                </a:lnTo>
                <a:lnTo>
                  <a:pt x="9913013" y="6408126"/>
                </a:lnTo>
                <a:lnTo>
                  <a:pt x="0" y="64081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02" t="0" r="-48595" b="0"/>
            </a:stretch>
          </a:blipFill>
        </p:spPr>
      </p:sp>
    </p:spTree>
  </p:cSld>
  <p:clrMapOvr>
    <a:masterClrMapping/>
  </p:clrMapOvr>
  <p:transition spd="fast">
    <p:wipe dir="r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-348727" y="9467519"/>
          <a:ext cx="19191814" cy="1326482"/>
        </p:xfrm>
        <a:graphic>
          <a:graphicData uri="http://schemas.openxmlformats.org/drawingml/2006/table">
            <a:tbl>
              <a:tblPr/>
              <a:tblGrid>
                <a:gridCol w="19191814"/>
              </a:tblGrid>
              <a:tr h="9515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259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9702017" y="2670431"/>
            <a:ext cx="1311739" cy="1142405"/>
          </a:xfrm>
          <a:custGeom>
            <a:avLst/>
            <a:gdLst/>
            <a:ahLst/>
            <a:cxnLst/>
            <a:rect r="r" b="b" t="t" l="l"/>
            <a:pathLst>
              <a:path h="1142405" w="1311739">
                <a:moveTo>
                  <a:pt x="0" y="0"/>
                </a:moveTo>
                <a:lnTo>
                  <a:pt x="1311738" y="0"/>
                </a:lnTo>
                <a:lnTo>
                  <a:pt x="1311738" y="1142405"/>
                </a:lnTo>
                <a:lnTo>
                  <a:pt x="0" y="11424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6006043" y="6620336"/>
            <a:ext cx="5515590" cy="178777"/>
          </a:xfrm>
          <a:custGeom>
            <a:avLst/>
            <a:gdLst/>
            <a:ahLst/>
            <a:cxnLst/>
            <a:rect r="r" b="b" t="t" l="l"/>
            <a:pathLst>
              <a:path h="178777" w="5515590">
                <a:moveTo>
                  <a:pt x="0" y="0"/>
                </a:moveTo>
                <a:lnTo>
                  <a:pt x="5515590" y="0"/>
                </a:lnTo>
                <a:lnTo>
                  <a:pt x="5515590" y="178776"/>
                </a:lnTo>
                <a:lnTo>
                  <a:pt x="0" y="1787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90163" y="313250"/>
            <a:ext cx="7107674" cy="938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41"/>
              </a:lnSpc>
              <a:spcBef>
                <a:spcPct val="0"/>
              </a:spcBef>
            </a:pPr>
            <a:r>
              <a:rPr lang="en-US" b="true" sz="5609">
                <a:solidFill>
                  <a:srgbClr val="3A668C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Methods and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1307264"/>
            <a:ext cx="1035788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091259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Model1:Logistic Regression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52757" y="3180757"/>
            <a:ext cx="1719557" cy="63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7"/>
              </a:lnSpc>
              <a:spcBef>
                <a:spcPct val="0"/>
              </a:spcBef>
            </a:pPr>
            <a:r>
              <a:rPr lang="en-US" b="true" sz="3599">
                <a:solidFill>
                  <a:srgbClr val="003F7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Why?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8371" y="4538685"/>
            <a:ext cx="7028328" cy="3393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Binary classification: Purchase vs No Purchase</a:t>
            </a:r>
          </a:p>
          <a:p>
            <a:pPr algn="ctr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Selected as a baseline model</a:t>
            </a:r>
          </a:p>
          <a:p>
            <a:pPr algn="ctr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Used to compare with Decision Tree &amp; Random Forest</a:t>
            </a:r>
          </a:p>
          <a:p>
            <a:pPr algn="ctr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Simple and interpretable linear model</a:t>
            </a:r>
          </a:p>
          <a:p>
            <a:pPr algn="ctr">
              <a:lnSpc>
                <a:spcPts val="3863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194667" y="4832011"/>
            <a:ext cx="5945624" cy="964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Assumes linear relationship</a:t>
            </a:r>
          </a:p>
          <a:p>
            <a:pPr algn="ctr" marL="604519" indent="-302260" lvl="1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Cannot capture non-linear patterns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46958" y="3180757"/>
            <a:ext cx="10241042" cy="63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7"/>
              </a:lnSpc>
              <a:spcBef>
                <a:spcPct val="0"/>
              </a:spcBef>
            </a:pPr>
            <a:r>
              <a:rPr lang="en-US" b="true" sz="3599">
                <a:solidFill>
                  <a:srgbClr val="003F7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M</a:t>
            </a:r>
            <a:r>
              <a:rPr lang="en-US" b="true" sz="3599">
                <a:solidFill>
                  <a:srgbClr val="003F7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odel Limitations</a:t>
            </a:r>
          </a:p>
        </p:txBody>
      </p:sp>
    </p:spTree>
  </p:cSld>
  <p:clrMapOvr>
    <a:masterClrMapping/>
  </p:clrMapOvr>
  <p:transition spd="fast">
    <p:wipe dir="r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2764306" y="6198768"/>
            <a:ext cx="7315200" cy="237107"/>
          </a:xfrm>
          <a:custGeom>
            <a:avLst/>
            <a:gdLst/>
            <a:ahLst/>
            <a:cxnLst/>
            <a:rect r="r" b="b" t="t" l="l"/>
            <a:pathLst>
              <a:path h="237107" w="7315200">
                <a:moveTo>
                  <a:pt x="0" y="0"/>
                </a:moveTo>
                <a:lnTo>
                  <a:pt x="7315200" y="0"/>
                </a:lnTo>
                <a:lnTo>
                  <a:pt x="7315200" y="237107"/>
                </a:lnTo>
                <a:lnTo>
                  <a:pt x="0" y="237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8521107" y="6109233"/>
            <a:ext cx="7315200" cy="237107"/>
          </a:xfrm>
          <a:custGeom>
            <a:avLst/>
            <a:gdLst/>
            <a:ahLst/>
            <a:cxnLst/>
            <a:rect r="r" b="b" t="t" l="l"/>
            <a:pathLst>
              <a:path h="237107" w="7315200">
                <a:moveTo>
                  <a:pt x="0" y="0"/>
                </a:moveTo>
                <a:lnTo>
                  <a:pt x="7315200" y="0"/>
                </a:lnTo>
                <a:lnTo>
                  <a:pt x="7315200" y="237107"/>
                </a:lnTo>
                <a:lnTo>
                  <a:pt x="0" y="237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195249" y="2526166"/>
            <a:ext cx="1502955" cy="1502955"/>
          </a:xfrm>
          <a:custGeom>
            <a:avLst/>
            <a:gdLst/>
            <a:ahLst/>
            <a:cxnLst/>
            <a:rect r="r" b="b" t="t" l="l"/>
            <a:pathLst>
              <a:path h="1502955" w="1502955">
                <a:moveTo>
                  <a:pt x="0" y="0"/>
                </a:moveTo>
                <a:lnTo>
                  <a:pt x="1502955" y="0"/>
                </a:lnTo>
                <a:lnTo>
                  <a:pt x="1502955" y="1502955"/>
                </a:lnTo>
                <a:lnTo>
                  <a:pt x="0" y="15029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07798" y="7387871"/>
            <a:ext cx="1853425" cy="1870429"/>
          </a:xfrm>
          <a:custGeom>
            <a:avLst/>
            <a:gdLst/>
            <a:ahLst/>
            <a:cxnLst/>
            <a:rect r="r" b="b" t="t" l="l"/>
            <a:pathLst>
              <a:path h="1870429" w="1853425">
                <a:moveTo>
                  <a:pt x="0" y="0"/>
                </a:moveTo>
                <a:lnTo>
                  <a:pt x="1853425" y="0"/>
                </a:lnTo>
                <a:lnTo>
                  <a:pt x="1853425" y="1870429"/>
                </a:lnTo>
                <a:lnTo>
                  <a:pt x="0" y="18704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06710" y="4655004"/>
            <a:ext cx="4987193" cy="3879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9" indent="-302260" lvl="1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333333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Acts as an in</a:t>
            </a:r>
            <a:r>
              <a:rPr lang="en-US" sz="2799">
                <a:solidFill>
                  <a:srgbClr val="333333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termediate model</a:t>
            </a:r>
          </a:p>
          <a:p>
            <a:pPr algn="ctr" marL="604519" indent="-302260" lvl="1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333333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Between Logistic Regression (simple) and Random Forest (complex)</a:t>
            </a:r>
          </a:p>
          <a:p>
            <a:pPr algn="ctr" marL="604519" indent="-302260" lvl="1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333333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Helps evaluate if a single tree is sufficient</a:t>
            </a:r>
          </a:p>
          <a:p>
            <a:pPr algn="ctr">
              <a:lnSpc>
                <a:spcPts val="3863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99658" y="727638"/>
            <a:ext cx="9144000" cy="871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75"/>
              </a:lnSpc>
              <a:spcBef>
                <a:spcPct val="0"/>
              </a:spcBef>
            </a:pPr>
            <a:r>
              <a:rPr lang="en-US" b="true" sz="5199">
                <a:solidFill>
                  <a:srgbClr val="1F2A44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Model 2 — Decision Tree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831890" y="2645564"/>
            <a:ext cx="3721180" cy="63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7"/>
              </a:lnSpc>
              <a:spcBef>
                <a:spcPct val="0"/>
              </a:spcBef>
            </a:pPr>
            <a:r>
              <a:rPr lang="en-US" b="true" sz="3599">
                <a:solidFill>
                  <a:srgbClr val="091259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Why?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1032" y="3508529"/>
            <a:ext cx="5791820" cy="3879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9" indent="-302260" lvl="1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333333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Cap</a:t>
            </a:r>
            <a:r>
              <a:rPr lang="en-US" sz="2799">
                <a:solidFill>
                  <a:srgbClr val="333333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tures non-linear relationships</a:t>
            </a:r>
          </a:p>
          <a:p>
            <a:pPr algn="ctr" marL="604519" indent="-302260" lvl="1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333333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Handles complex feature interactions</a:t>
            </a:r>
          </a:p>
          <a:p>
            <a:pPr algn="ctr" marL="604519" indent="-302260" lvl="1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333333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More flexible than Logistic Regression</a:t>
            </a:r>
          </a:p>
          <a:p>
            <a:pPr algn="ctr" marL="604519" indent="-302260" lvl="1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333333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Suitable for behavioral data patterns</a:t>
            </a:r>
          </a:p>
          <a:p>
            <a:pPr algn="ctr">
              <a:lnSpc>
                <a:spcPts val="3863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559005" y="2645564"/>
            <a:ext cx="3029454" cy="1260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7"/>
              </a:lnSpc>
              <a:spcBef>
                <a:spcPct val="0"/>
              </a:spcBef>
            </a:pPr>
            <a:r>
              <a:rPr lang="en-US" b="true" sz="3599">
                <a:solidFill>
                  <a:srgbClr val="091259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Role in the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48371" y="2604416"/>
            <a:ext cx="5335727" cy="63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7"/>
              </a:lnSpc>
              <a:spcBef>
                <a:spcPct val="0"/>
              </a:spcBef>
            </a:pPr>
            <a:r>
              <a:rPr lang="en-US" b="true" sz="3599">
                <a:solidFill>
                  <a:srgbClr val="091259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M</a:t>
            </a:r>
            <a:r>
              <a:rPr lang="en-US" b="true" sz="3599">
                <a:solidFill>
                  <a:srgbClr val="091259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odel Configuration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56257" y="3508529"/>
            <a:ext cx="4603043" cy="3393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9" indent="-302260" lvl="1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333333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max_depth = 10 (limits c</a:t>
            </a:r>
            <a:r>
              <a:rPr lang="en-US" sz="2799">
                <a:solidFill>
                  <a:srgbClr val="333333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omplexity)</a:t>
            </a:r>
          </a:p>
          <a:p>
            <a:pPr algn="ctr" marL="604519" indent="-302260" lvl="1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333333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Prevents overfitting</a:t>
            </a:r>
          </a:p>
          <a:p>
            <a:pPr algn="ctr" marL="604519" indent="-302260" lvl="1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333333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Trained on unscaled data</a:t>
            </a:r>
          </a:p>
          <a:p>
            <a:pPr algn="ctr" marL="604519" indent="-302260" lvl="1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333333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Not sensitive to feature magnitude</a:t>
            </a:r>
          </a:p>
          <a:p>
            <a:pPr algn="ctr">
              <a:lnSpc>
                <a:spcPts val="3863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wipe dir="r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23286" y="299752"/>
            <a:ext cx="1187522" cy="1457896"/>
          </a:xfrm>
          <a:custGeom>
            <a:avLst/>
            <a:gdLst/>
            <a:ahLst/>
            <a:cxnLst/>
            <a:rect r="r" b="b" t="t" l="l"/>
            <a:pathLst>
              <a:path h="1457896" w="1187522">
                <a:moveTo>
                  <a:pt x="0" y="0"/>
                </a:moveTo>
                <a:lnTo>
                  <a:pt x="1187522" y="0"/>
                </a:lnTo>
                <a:lnTo>
                  <a:pt x="1187522" y="1457896"/>
                </a:lnTo>
                <a:lnTo>
                  <a:pt x="0" y="14578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985002"/>
            <a:ext cx="1301998" cy="1301998"/>
          </a:xfrm>
          <a:custGeom>
            <a:avLst/>
            <a:gdLst/>
            <a:ahLst/>
            <a:cxnLst/>
            <a:rect r="r" b="b" t="t" l="l"/>
            <a:pathLst>
              <a:path h="1301998" w="1301998">
                <a:moveTo>
                  <a:pt x="0" y="0"/>
                </a:moveTo>
                <a:lnTo>
                  <a:pt x="1301998" y="0"/>
                </a:lnTo>
                <a:lnTo>
                  <a:pt x="1301998" y="1301998"/>
                </a:lnTo>
                <a:lnTo>
                  <a:pt x="0" y="1301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992958" y="8985002"/>
            <a:ext cx="1212893" cy="1244573"/>
          </a:xfrm>
          <a:custGeom>
            <a:avLst/>
            <a:gdLst/>
            <a:ahLst/>
            <a:cxnLst/>
            <a:rect r="r" b="b" t="t" l="l"/>
            <a:pathLst>
              <a:path h="1244573" w="1212893">
                <a:moveTo>
                  <a:pt x="0" y="0"/>
                </a:moveTo>
                <a:lnTo>
                  <a:pt x="1212893" y="0"/>
                </a:lnTo>
                <a:lnTo>
                  <a:pt x="1212893" y="1244573"/>
                </a:lnTo>
                <a:lnTo>
                  <a:pt x="0" y="12445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8899" y="252534"/>
            <a:ext cx="9521467" cy="871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75"/>
              </a:lnSpc>
              <a:spcBef>
                <a:spcPct val="0"/>
              </a:spcBef>
            </a:pPr>
            <a:r>
              <a:rPr lang="en-US" b="true" sz="5199">
                <a:solidFill>
                  <a:srgbClr val="09125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</a:t>
            </a:r>
            <a:r>
              <a:rPr lang="en-US" b="true" sz="5199">
                <a:solidFill>
                  <a:srgbClr val="09125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odel 3 — Random Forest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6203" y="2102220"/>
            <a:ext cx="1291590" cy="632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7"/>
              </a:lnSpc>
              <a:spcBef>
                <a:spcPct val="0"/>
              </a:spcBef>
            </a:pPr>
            <a:r>
              <a:rPr lang="en-US" b="true" sz="3600">
                <a:solidFill>
                  <a:srgbClr val="003F7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W</a:t>
            </a:r>
            <a:r>
              <a:rPr lang="en-US" b="true" sz="3600">
                <a:solidFill>
                  <a:srgbClr val="003F7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hy?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7635" y="2862748"/>
            <a:ext cx="6610871" cy="3879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9" indent="-302260" lvl="1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Reduces </a:t>
            </a:r>
            <a:r>
              <a:rPr lang="en-US" sz="27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overfitting of a single Decision Tree</a:t>
            </a:r>
          </a:p>
          <a:p>
            <a:pPr algn="ctr" marL="604519" indent="-302260" lvl="1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Combines multiple trees (ensemble model)</a:t>
            </a:r>
          </a:p>
          <a:p>
            <a:pPr algn="ctr" marL="604519" indent="-302260" lvl="1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Produces more stable &amp; accurate predictions</a:t>
            </a:r>
          </a:p>
          <a:p>
            <a:pPr algn="ctr" marL="604519" indent="-302260" lvl="1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Uses majority voting</a:t>
            </a:r>
          </a:p>
          <a:p>
            <a:pPr algn="ctr">
              <a:lnSpc>
                <a:spcPts val="3863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412882" y="1829043"/>
            <a:ext cx="5718215" cy="632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7"/>
              </a:lnSpc>
              <a:spcBef>
                <a:spcPct val="0"/>
              </a:spcBef>
            </a:pPr>
            <a:r>
              <a:rPr lang="en-US" b="true" sz="3600">
                <a:solidFill>
                  <a:srgbClr val="003F7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S</a:t>
            </a:r>
            <a:r>
              <a:rPr lang="en-US" b="true" sz="3600">
                <a:solidFill>
                  <a:srgbClr val="003F7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trengths for This Dataset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87414" y="2800376"/>
            <a:ext cx="6610871" cy="3393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9" indent="-302260" lvl="1">
              <a:lnSpc>
                <a:spcPts val="3863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Handles noisy &amp; high-dimensional data</a:t>
            </a:r>
          </a:p>
          <a:p>
            <a:pPr algn="ctr" marL="604519" indent="-302260" lvl="1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Captures c</a:t>
            </a:r>
            <a:r>
              <a:rPr lang="en-US" sz="27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omplex feature interactions</a:t>
            </a:r>
          </a:p>
          <a:p>
            <a:pPr algn="ctr" marL="604519" indent="-302260" lvl="1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Detects subtle patterns in purchase behavior</a:t>
            </a:r>
          </a:p>
          <a:p>
            <a:pPr algn="ctr" marL="604519" indent="-302260" lvl="1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More robust than linear &amp; single-tree models</a:t>
            </a:r>
          </a:p>
          <a:p>
            <a:pPr algn="ctr">
              <a:lnSpc>
                <a:spcPts val="3863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-300834" y="6656365"/>
            <a:ext cx="4958763" cy="632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7"/>
              </a:lnSpc>
              <a:spcBef>
                <a:spcPct val="0"/>
              </a:spcBef>
            </a:pPr>
            <a:r>
              <a:rPr lang="en-US" b="true" sz="3600">
                <a:solidFill>
                  <a:srgbClr val="003F7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Busin</a:t>
            </a:r>
            <a:r>
              <a:rPr lang="en-US" b="true" sz="3600">
                <a:solidFill>
                  <a:srgbClr val="003F7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ess Value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3087" y="7568558"/>
            <a:ext cx="7249685" cy="1936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9" indent="-302260" lvl="1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Pr</a:t>
            </a:r>
            <a:r>
              <a:rPr lang="en-US" sz="27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ovides feature importance</a:t>
            </a:r>
          </a:p>
          <a:p>
            <a:pPr algn="ctr" marL="604519" indent="-302260" lvl="1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Identifies key drivers of purchase intent</a:t>
            </a:r>
          </a:p>
          <a:p>
            <a:pPr algn="ctr" marL="604519" indent="-302260" lvl="1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Adds interpretability for decision-making</a:t>
            </a:r>
          </a:p>
          <a:p>
            <a:pPr algn="ctr">
              <a:lnSpc>
                <a:spcPts val="3863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476223" y="6108218"/>
            <a:ext cx="4473297" cy="632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7"/>
              </a:lnSpc>
              <a:spcBef>
                <a:spcPct val="0"/>
              </a:spcBef>
            </a:pPr>
            <a:r>
              <a:rPr lang="en-US" b="true" sz="3600">
                <a:solidFill>
                  <a:srgbClr val="003F7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M</a:t>
            </a:r>
            <a:r>
              <a:rPr lang="en-US" b="true" sz="3600">
                <a:solidFill>
                  <a:srgbClr val="003F7F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odel Configuration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87414" y="6949847"/>
            <a:ext cx="7273633" cy="2422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9" indent="-302260" lvl="1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n_estimat</a:t>
            </a:r>
            <a:r>
              <a:rPr lang="en-US" sz="27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ors = 200 (more stability)</a:t>
            </a:r>
          </a:p>
          <a:p>
            <a:pPr algn="ctr" marL="604519" indent="-302260" lvl="1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max_depth = 10 (controls overfitting)</a:t>
            </a:r>
          </a:p>
          <a:p>
            <a:pPr algn="ctr" marL="604519" indent="-302260" lvl="1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Trained on unscaled data</a:t>
            </a:r>
          </a:p>
          <a:p>
            <a:pPr algn="ctr" marL="604519" indent="-302260" lvl="1">
              <a:lnSpc>
                <a:spcPts val="3863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Not sensitive to feature magnitude</a:t>
            </a:r>
          </a:p>
          <a:p>
            <a:pPr algn="ctr">
              <a:lnSpc>
                <a:spcPts val="386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-348727" y="9467519"/>
          <a:ext cx="19191814" cy="1326482"/>
        </p:xfrm>
        <a:graphic>
          <a:graphicData uri="http://schemas.openxmlformats.org/drawingml/2006/table">
            <a:tbl>
              <a:tblPr/>
              <a:tblGrid>
                <a:gridCol w="19191814"/>
              </a:tblGrid>
              <a:tr h="9515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259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1702474" y="1375111"/>
            <a:ext cx="1347548" cy="507168"/>
          </a:xfrm>
          <a:custGeom>
            <a:avLst/>
            <a:gdLst/>
            <a:ahLst/>
            <a:cxnLst/>
            <a:rect r="r" b="b" t="t" l="l"/>
            <a:pathLst>
              <a:path h="507168" w="1347548">
                <a:moveTo>
                  <a:pt x="0" y="0"/>
                </a:moveTo>
                <a:lnTo>
                  <a:pt x="1347547" y="0"/>
                </a:lnTo>
                <a:lnTo>
                  <a:pt x="1347547" y="507168"/>
                </a:lnTo>
                <a:lnTo>
                  <a:pt x="0" y="5071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162483" y="3565317"/>
            <a:ext cx="11236107" cy="2148647"/>
          </a:xfrm>
          <a:custGeom>
            <a:avLst/>
            <a:gdLst/>
            <a:ahLst/>
            <a:cxnLst/>
            <a:rect r="r" b="b" t="t" l="l"/>
            <a:pathLst>
              <a:path h="2148647" w="11236107">
                <a:moveTo>
                  <a:pt x="0" y="0"/>
                </a:moveTo>
                <a:lnTo>
                  <a:pt x="11236107" y="0"/>
                </a:lnTo>
                <a:lnTo>
                  <a:pt x="11236107" y="2148648"/>
                </a:lnTo>
                <a:lnTo>
                  <a:pt x="0" y="21486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95" r="0" b="-29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4971" y="7150249"/>
            <a:ext cx="1454106" cy="1561070"/>
          </a:xfrm>
          <a:custGeom>
            <a:avLst/>
            <a:gdLst/>
            <a:ahLst/>
            <a:cxnLst/>
            <a:rect r="r" b="b" t="t" l="l"/>
            <a:pathLst>
              <a:path h="1561070" w="1454106">
                <a:moveTo>
                  <a:pt x="0" y="0"/>
                </a:moveTo>
                <a:lnTo>
                  <a:pt x="1454106" y="0"/>
                </a:lnTo>
                <a:lnTo>
                  <a:pt x="1454106" y="1561070"/>
                </a:lnTo>
                <a:lnTo>
                  <a:pt x="0" y="15610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58132" y="994016"/>
            <a:ext cx="11844810" cy="888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27"/>
              </a:lnSpc>
              <a:spcBef>
                <a:spcPct val="0"/>
              </a:spcBef>
            </a:pPr>
            <a:r>
              <a:rPr lang="en-US" b="true" sz="5309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Model Performance Comparison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39077" y="7597028"/>
            <a:ext cx="11863864" cy="581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7" indent="-356233" lvl="1">
              <a:lnSpc>
                <a:spcPts val="4553"/>
              </a:lnSpc>
              <a:buFont typeface="Arial"/>
              <a:buChar char="•"/>
            </a:pPr>
            <a:r>
              <a:rPr lang="en-US" sz="3299">
                <a:solidFill>
                  <a:srgbClr val="091259"/>
                </a:solidFill>
                <a:latin typeface="Coco Gothic"/>
                <a:ea typeface="Coco Gothic"/>
                <a:cs typeface="Coco Gothic"/>
                <a:sym typeface="Coco Gothic"/>
              </a:rPr>
              <a:t>Evaluation based on Accuracy, Precision, Recall, F1 Sc</a:t>
            </a:r>
            <a:r>
              <a:rPr lang="en-US" sz="3299">
                <a:solidFill>
                  <a:srgbClr val="091259"/>
                </a:solidFill>
                <a:latin typeface="Coco Gothic"/>
                <a:ea typeface="Coco Gothic"/>
                <a:cs typeface="Coco Gothic"/>
                <a:sym typeface="Coco Gothic"/>
              </a:rPr>
              <a:t>ore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-348727" y="9467519"/>
          <a:ext cx="19191814" cy="1326482"/>
        </p:xfrm>
        <a:graphic>
          <a:graphicData uri="http://schemas.openxmlformats.org/drawingml/2006/table">
            <a:tbl>
              <a:tblPr/>
              <a:tblGrid>
                <a:gridCol w="19191814"/>
              </a:tblGrid>
              <a:tr h="9515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259"/>
                    </a:solidFill>
                  </a:tcPr>
                </a:tc>
              </a:tr>
            </a:tbl>
          </a:graphicData>
        </a:graphic>
      </p:graphicFrame>
      <p:sp>
        <p:nvSpPr>
          <p:cNvPr name="AutoShape 3" id="3"/>
          <p:cNvSpPr/>
          <p:nvPr/>
        </p:nvSpPr>
        <p:spPr>
          <a:xfrm>
            <a:off x="764039" y="2545598"/>
            <a:ext cx="16230600" cy="0"/>
          </a:xfrm>
          <a:prstGeom prst="line">
            <a:avLst/>
          </a:prstGeom>
          <a:ln cap="flat" w="28575">
            <a:solidFill>
              <a:srgbClr val="0912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8423092" y="2128338"/>
            <a:ext cx="824088" cy="834711"/>
          </a:xfrm>
          <a:custGeom>
            <a:avLst/>
            <a:gdLst/>
            <a:ahLst/>
            <a:cxnLst/>
            <a:rect r="r" b="b" t="t" l="l"/>
            <a:pathLst>
              <a:path h="834711" w="824088">
                <a:moveTo>
                  <a:pt x="0" y="0"/>
                </a:moveTo>
                <a:lnTo>
                  <a:pt x="824088" y="0"/>
                </a:lnTo>
                <a:lnTo>
                  <a:pt x="824088" y="834711"/>
                </a:lnTo>
                <a:lnTo>
                  <a:pt x="0" y="834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3470429" y="2128147"/>
            <a:ext cx="821052" cy="834711"/>
          </a:xfrm>
          <a:custGeom>
            <a:avLst/>
            <a:gdLst/>
            <a:ahLst/>
            <a:cxnLst/>
            <a:rect r="r" b="b" t="t" l="l"/>
            <a:pathLst>
              <a:path h="834711" w="821052">
                <a:moveTo>
                  <a:pt x="0" y="0"/>
                </a:moveTo>
                <a:lnTo>
                  <a:pt x="821053" y="0"/>
                </a:lnTo>
                <a:lnTo>
                  <a:pt x="821053" y="834711"/>
                </a:lnTo>
                <a:lnTo>
                  <a:pt x="0" y="8347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3071541" y="2128338"/>
            <a:ext cx="826934" cy="834520"/>
          </a:xfrm>
          <a:custGeom>
            <a:avLst/>
            <a:gdLst/>
            <a:ahLst/>
            <a:cxnLst/>
            <a:rect r="r" b="b" t="t" l="l"/>
            <a:pathLst>
              <a:path h="834520" w="826934">
                <a:moveTo>
                  <a:pt x="0" y="0"/>
                </a:moveTo>
                <a:lnTo>
                  <a:pt x="826934" y="0"/>
                </a:lnTo>
                <a:lnTo>
                  <a:pt x="826934" y="834520"/>
                </a:lnTo>
                <a:lnTo>
                  <a:pt x="0" y="8345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43910" y="5720141"/>
            <a:ext cx="1600390" cy="2195049"/>
          </a:xfrm>
          <a:custGeom>
            <a:avLst/>
            <a:gdLst/>
            <a:ahLst/>
            <a:cxnLst/>
            <a:rect r="r" b="b" t="t" l="l"/>
            <a:pathLst>
              <a:path h="2195049" w="1600390">
                <a:moveTo>
                  <a:pt x="0" y="0"/>
                </a:moveTo>
                <a:lnTo>
                  <a:pt x="1600390" y="0"/>
                </a:lnTo>
                <a:lnTo>
                  <a:pt x="1600390" y="2195050"/>
                </a:lnTo>
                <a:lnTo>
                  <a:pt x="0" y="21950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35260" y="691546"/>
            <a:ext cx="10289114" cy="74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91"/>
              </a:lnSpc>
              <a:spcBef>
                <a:spcPct val="0"/>
              </a:spcBef>
            </a:pPr>
            <a:r>
              <a:rPr lang="en-US" b="true" sz="5313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Model P</a:t>
            </a:r>
            <a:r>
              <a:rPr lang="en-US" b="true" sz="5313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erformance Comparison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99908" y="3601033"/>
            <a:ext cx="2370199" cy="145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3"/>
              </a:lnSpc>
              <a:spcBef>
                <a:spcPct val="0"/>
              </a:spcBef>
            </a:pPr>
            <a:r>
              <a:rPr lang="en-US" b="true" sz="2799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Random Forest</a:t>
            </a:r>
          </a:p>
          <a:p>
            <a:pPr algn="ctr">
              <a:lnSpc>
                <a:spcPts val="3863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779599" y="3601033"/>
            <a:ext cx="2111075" cy="145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3"/>
              </a:lnSpc>
              <a:spcBef>
                <a:spcPct val="0"/>
              </a:spcBef>
            </a:pPr>
            <a:r>
              <a:rPr lang="en-US" b="true" sz="2799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Decision Tree</a:t>
            </a:r>
          </a:p>
          <a:p>
            <a:pPr algn="ctr">
              <a:lnSpc>
                <a:spcPts val="3863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704263" y="3601033"/>
            <a:ext cx="2353384" cy="145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3"/>
              </a:lnSpc>
              <a:spcBef>
                <a:spcPct val="0"/>
              </a:spcBef>
            </a:pPr>
            <a:r>
              <a:rPr lang="en-US" b="true" sz="2799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Logistic Regression</a:t>
            </a:r>
          </a:p>
          <a:p>
            <a:pPr algn="ctr">
              <a:lnSpc>
                <a:spcPts val="3863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115557" y="5624891"/>
            <a:ext cx="7203162" cy="682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81"/>
              </a:lnSpc>
              <a:spcBef>
                <a:spcPct val="0"/>
              </a:spcBef>
            </a:pPr>
            <a:r>
              <a:rPr lang="en-US" sz="3899">
                <a:solidFill>
                  <a:srgbClr val="091259"/>
                </a:solidFill>
                <a:latin typeface="Coco Gothic"/>
                <a:ea typeface="Coco Gothic"/>
                <a:cs typeface="Coco Gothic"/>
                <a:sym typeface="Coco Gothic"/>
              </a:rPr>
              <a:t>⟶ B</a:t>
            </a:r>
            <a:r>
              <a:rPr lang="en-US" sz="3899">
                <a:solidFill>
                  <a:srgbClr val="091259"/>
                </a:solidFill>
                <a:latin typeface="Coco Gothic"/>
                <a:ea typeface="Coco Gothic"/>
                <a:cs typeface="Coco Gothic"/>
                <a:sym typeface="Coco Gothic"/>
              </a:rPr>
              <a:t>est Model: Random Forest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96702" y="6337947"/>
            <a:ext cx="10076868" cy="188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5" indent="-388618" lvl="1">
              <a:lnSpc>
                <a:spcPts val="4967"/>
              </a:lnSpc>
              <a:spcBef>
                <a:spcPct val="0"/>
              </a:spcBef>
              <a:buFont typeface="Arial"/>
              <a:buChar char="•"/>
            </a:pPr>
            <a:r>
              <a:rPr lang="en-US" sz="3599">
                <a:solidFill>
                  <a:srgbClr val="091259"/>
                </a:solidFill>
                <a:latin typeface="Coco Gothic"/>
                <a:ea typeface="Coco Gothic"/>
                <a:cs typeface="Coco Gothic"/>
                <a:sym typeface="Coco Gothic"/>
              </a:rPr>
              <a:t>Highes</a:t>
            </a:r>
            <a:r>
              <a:rPr lang="en-US" sz="3599">
                <a:solidFill>
                  <a:srgbClr val="091259"/>
                </a:solidFill>
                <a:latin typeface="Coco Gothic"/>
                <a:ea typeface="Coco Gothic"/>
                <a:cs typeface="Coco Gothic"/>
                <a:sym typeface="Coco Gothic"/>
              </a:rPr>
              <a:t>t F1 Score (0.646)</a:t>
            </a:r>
          </a:p>
          <a:p>
            <a:pPr algn="l" marL="777235" indent="-388618" lvl="1">
              <a:lnSpc>
                <a:spcPts val="4967"/>
              </a:lnSpc>
              <a:spcBef>
                <a:spcPct val="0"/>
              </a:spcBef>
              <a:buFont typeface="Arial"/>
              <a:buChar char="•"/>
            </a:pPr>
            <a:r>
              <a:rPr lang="en-US" sz="3599">
                <a:solidFill>
                  <a:srgbClr val="091259"/>
                </a:solidFill>
                <a:latin typeface="Coco Gothic"/>
                <a:ea typeface="Coco Gothic"/>
                <a:cs typeface="Coco Gothic"/>
                <a:sym typeface="Coco Gothic"/>
              </a:rPr>
              <a:t>Best balance between Precision &amp; Recall</a:t>
            </a:r>
          </a:p>
          <a:p>
            <a:pPr algn="l" marL="777235" indent="-388618" lvl="1">
              <a:lnSpc>
                <a:spcPts val="4967"/>
              </a:lnSpc>
              <a:spcBef>
                <a:spcPct val="0"/>
              </a:spcBef>
              <a:buFont typeface="Arial"/>
              <a:buChar char="•"/>
            </a:pPr>
            <a:r>
              <a:rPr lang="en-US" sz="3599">
                <a:solidFill>
                  <a:srgbClr val="091259"/>
                </a:solidFill>
                <a:latin typeface="Coco Gothic"/>
                <a:ea typeface="Coco Gothic"/>
                <a:cs typeface="Coco Gothic"/>
                <a:sym typeface="Coco Gothic"/>
              </a:rPr>
              <a:t>Strong overall performance &amp; reliability</a:t>
            </a:r>
          </a:p>
        </p:txBody>
      </p:sp>
    </p:spTree>
  </p:cSld>
  <p:clrMapOvr>
    <a:masterClrMapping/>
  </p:clrMapOvr>
  <p:transition spd="fast">
    <p:wipe dir="r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-348727" y="9467519"/>
          <a:ext cx="19191814" cy="1326482"/>
        </p:xfrm>
        <a:graphic>
          <a:graphicData uri="http://schemas.openxmlformats.org/drawingml/2006/table">
            <a:tbl>
              <a:tblPr/>
              <a:tblGrid>
                <a:gridCol w="19191814"/>
              </a:tblGrid>
              <a:tr h="9515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259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8365864" y="1840897"/>
            <a:ext cx="8893436" cy="6814425"/>
          </a:xfrm>
          <a:custGeom>
            <a:avLst/>
            <a:gdLst/>
            <a:ahLst/>
            <a:cxnLst/>
            <a:rect r="r" b="b" t="t" l="l"/>
            <a:pathLst>
              <a:path h="6814425" w="8893436">
                <a:moveTo>
                  <a:pt x="0" y="0"/>
                </a:moveTo>
                <a:lnTo>
                  <a:pt x="8893436" y="0"/>
                </a:lnTo>
                <a:lnTo>
                  <a:pt x="8893436" y="6814425"/>
                </a:lnTo>
                <a:lnTo>
                  <a:pt x="0" y="6814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533" t="-1842" r="-15003" b="-1842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976742"/>
            <a:ext cx="6249706" cy="4908860"/>
          </a:xfrm>
          <a:custGeom>
            <a:avLst/>
            <a:gdLst/>
            <a:ahLst/>
            <a:cxnLst/>
            <a:rect r="r" b="b" t="t" l="l"/>
            <a:pathLst>
              <a:path h="4908860" w="6249706">
                <a:moveTo>
                  <a:pt x="0" y="0"/>
                </a:moveTo>
                <a:lnTo>
                  <a:pt x="6249706" y="0"/>
                </a:lnTo>
                <a:lnTo>
                  <a:pt x="6249706" y="4908860"/>
                </a:lnTo>
                <a:lnTo>
                  <a:pt x="0" y="49088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43910" y="3760609"/>
            <a:ext cx="5233675" cy="2813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2"/>
              </a:lnSpc>
              <a:spcBef>
                <a:spcPct val="0"/>
              </a:spcBef>
            </a:pPr>
            <a:r>
              <a:rPr lang="en-US" sz="4103">
                <a:solidFill>
                  <a:srgbClr val="091259"/>
                </a:solidFill>
                <a:latin typeface="Nourd"/>
                <a:ea typeface="Nourd"/>
                <a:cs typeface="Nourd"/>
                <a:sym typeface="Nourd"/>
              </a:rPr>
              <a:t>This confusion mat</a:t>
            </a:r>
            <a:r>
              <a:rPr lang="en-US" sz="4103">
                <a:solidFill>
                  <a:srgbClr val="091259"/>
                </a:solidFill>
                <a:latin typeface="Nourd"/>
                <a:ea typeface="Nourd"/>
                <a:cs typeface="Nourd"/>
                <a:sym typeface="Nourd"/>
              </a:rPr>
              <a:t>rix </a:t>
            </a:r>
            <a:r>
              <a:rPr lang="en-US" sz="4103" strike="noStrike">
                <a:solidFill>
                  <a:srgbClr val="091259"/>
                </a:solidFill>
                <a:latin typeface="Nourd"/>
                <a:ea typeface="Nourd"/>
                <a:cs typeface="Nourd"/>
                <a:sym typeface="Nourd"/>
              </a:rPr>
              <a:t> illustrates the performance of the Random Forest model on the test set.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7141" y="287718"/>
            <a:ext cx="11665386" cy="74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91"/>
              </a:lnSpc>
              <a:spcBef>
                <a:spcPct val="0"/>
              </a:spcBef>
            </a:pPr>
            <a:r>
              <a:rPr lang="en-US" b="true" sz="5313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Confus</a:t>
            </a:r>
            <a:r>
              <a:rPr lang="en-US" b="true" sz="5313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ion Matrix — Random Forest</a:t>
            </a:r>
          </a:p>
        </p:txBody>
      </p:sp>
    </p:spTree>
  </p:cSld>
  <p:clrMapOvr>
    <a:masterClrMapping/>
  </p:clrMapOvr>
  <p:transition spd="fast">
    <p:wipe dir="r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-348727" y="9467519"/>
          <a:ext cx="19191814" cy="1326482"/>
        </p:xfrm>
        <a:graphic>
          <a:graphicData uri="http://schemas.openxmlformats.org/drawingml/2006/table">
            <a:tbl>
              <a:tblPr/>
              <a:tblGrid>
                <a:gridCol w="19191814"/>
              </a:tblGrid>
              <a:tr h="9515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259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5656467" y="6476733"/>
            <a:ext cx="827019" cy="792435"/>
          </a:xfrm>
          <a:custGeom>
            <a:avLst/>
            <a:gdLst/>
            <a:ahLst/>
            <a:cxnLst/>
            <a:rect r="r" b="b" t="t" l="l"/>
            <a:pathLst>
              <a:path h="792435" w="827019">
                <a:moveTo>
                  <a:pt x="0" y="0"/>
                </a:moveTo>
                <a:lnTo>
                  <a:pt x="827019" y="0"/>
                </a:lnTo>
                <a:lnTo>
                  <a:pt x="827019" y="792435"/>
                </a:lnTo>
                <a:lnTo>
                  <a:pt x="0" y="792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5656467" y="2183883"/>
            <a:ext cx="827019" cy="792435"/>
          </a:xfrm>
          <a:custGeom>
            <a:avLst/>
            <a:gdLst/>
            <a:ahLst/>
            <a:cxnLst/>
            <a:rect r="r" b="b" t="t" l="l"/>
            <a:pathLst>
              <a:path h="792435" w="827019">
                <a:moveTo>
                  <a:pt x="0" y="0"/>
                </a:moveTo>
                <a:lnTo>
                  <a:pt x="827019" y="0"/>
                </a:lnTo>
                <a:lnTo>
                  <a:pt x="827019" y="792435"/>
                </a:lnTo>
                <a:lnTo>
                  <a:pt x="0" y="792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5656467" y="3614493"/>
            <a:ext cx="827019" cy="792435"/>
          </a:xfrm>
          <a:custGeom>
            <a:avLst/>
            <a:gdLst/>
            <a:ahLst/>
            <a:cxnLst/>
            <a:rect r="r" b="b" t="t" l="l"/>
            <a:pathLst>
              <a:path h="792435" w="827019">
                <a:moveTo>
                  <a:pt x="0" y="0"/>
                </a:moveTo>
                <a:lnTo>
                  <a:pt x="827019" y="0"/>
                </a:lnTo>
                <a:lnTo>
                  <a:pt x="827019" y="792435"/>
                </a:lnTo>
                <a:lnTo>
                  <a:pt x="0" y="792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5656467" y="4977309"/>
            <a:ext cx="827019" cy="792435"/>
          </a:xfrm>
          <a:custGeom>
            <a:avLst/>
            <a:gdLst/>
            <a:ahLst/>
            <a:cxnLst/>
            <a:rect r="r" b="b" t="t" l="l"/>
            <a:pathLst>
              <a:path h="792435" w="827019">
                <a:moveTo>
                  <a:pt x="0" y="0"/>
                </a:moveTo>
                <a:lnTo>
                  <a:pt x="827019" y="0"/>
                </a:lnTo>
                <a:lnTo>
                  <a:pt x="827019" y="792435"/>
                </a:lnTo>
                <a:lnTo>
                  <a:pt x="0" y="792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863705" y="7654930"/>
            <a:ext cx="1240864" cy="1091960"/>
          </a:xfrm>
          <a:custGeom>
            <a:avLst/>
            <a:gdLst/>
            <a:ahLst/>
            <a:cxnLst/>
            <a:rect r="r" b="b" t="t" l="l"/>
            <a:pathLst>
              <a:path h="1091960" w="1240864">
                <a:moveTo>
                  <a:pt x="0" y="0"/>
                </a:moveTo>
                <a:lnTo>
                  <a:pt x="1240864" y="0"/>
                </a:lnTo>
                <a:lnTo>
                  <a:pt x="1240864" y="1091960"/>
                </a:lnTo>
                <a:lnTo>
                  <a:pt x="0" y="10919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449672" y="0"/>
            <a:ext cx="1619256" cy="1586871"/>
          </a:xfrm>
          <a:custGeom>
            <a:avLst/>
            <a:gdLst/>
            <a:ahLst/>
            <a:cxnLst/>
            <a:rect r="r" b="b" t="t" l="l"/>
            <a:pathLst>
              <a:path h="1586871" w="1619256">
                <a:moveTo>
                  <a:pt x="0" y="0"/>
                </a:moveTo>
                <a:lnTo>
                  <a:pt x="1619256" y="0"/>
                </a:lnTo>
                <a:lnTo>
                  <a:pt x="1619256" y="1586871"/>
                </a:lnTo>
                <a:lnTo>
                  <a:pt x="0" y="15868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9126" y="287718"/>
            <a:ext cx="11343512" cy="74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91"/>
              </a:lnSpc>
              <a:spcBef>
                <a:spcPct val="0"/>
              </a:spcBef>
            </a:pPr>
            <a:r>
              <a:rPr lang="en-US" b="true" sz="5313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Confusion Matrix — R</a:t>
            </a:r>
            <a:r>
              <a:rPr lang="en-US" b="true" sz="5313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andom Forest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95259" y="2382933"/>
            <a:ext cx="10664041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70"/>
              </a:lnSpc>
              <a:spcBef>
                <a:spcPct val="0"/>
              </a:spcBef>
            </a:pPr>
            <a:r>
              <a:rPr lang="en-US" sz="300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High</a:t>
            </a:r>
            <a:r>
              <a:rPr lang="en-US" sz="300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Tru</a:t>
            </a:r>
            <a:r>
              <a:rPr lang="en-US" sz="3000" strike="noStrike" u="none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 Negatives (1986) → strong detection of non-buyers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7355" y="2287683"/>
            <a:ext cx="4624007" cy="1650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5"/>
              </a:lnSpc>
            </a:pPr>
            <a:r>
              <a:rPr lang="en-US" b="true" sz="3199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Model Performance Insights:</a:t>
            </a:r>
          </a:p>
          <a:p>
            <a:pPr algn="ctr">
              <a:lnSpc>
                <a:spcPts val="4415"/>
              </a:lnSpc>
              <a:spcBef>
                <a:spcPct val="0"/>
              </a:spcBef>
            </a:pPr>
            <a:r>
              <a:rPr lang="en-US" sz="3199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71882" y="3725913"/>
            <a:ext cx="8943261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00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Good</a:t>
            </a:r>
            <a:r>
              <a:rPr lang="en-US" sz="300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True Positives (217) → captures actual purchases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71882" y="4942969"/>
            <a:ext cx="6944705" cy="160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2"/>
              </a:lnSpc>
            </a:pPr>
            <a:r>
              <a:rPr lang="en-US" sz="311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Low</a:t>
            </a:r>
            <a:r>
              <a:rPr lang="en-US" sz="311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False Positives (73) → high precision</a:t>
            </a:r>
          </a:p>
          <a:p>
            <a:pPr algn="l">
              <a:lnSpc>
                <a:spcPts val="4292"/>
              </a:lnSpc>
            </a:pPr>
          </a:p>
          <a:p>
            <a:pPr algn="l">
              <a:lnSpc>
                <a:spcPts val="4292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871882" y="6419583"/>
            <a:ext cx="7355205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00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Some</a:t>
            </a:r>
            <a:r>
              <a:rPr lang="en-US" sz="3000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 False Negatives (165) → missed buyers</a:t>
            </a:r>
          </a:p>
          <a:p>
            <a:pPr algn="l">
              <a:lnSpc>
                <a:spcPts val="414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341175" y="8109857"/>
            <a:ext cx="16371556" cy="637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43"/>
              </a:lnSpc>
              <a:spcBef>
                <a:spcPct val="0"/>
              </a:spcBef>
            </a:pPr>
            <a:r>
              <a:rPr lang="en-US" b="true" sz="3799">
                <a:solidFill>
                  <a:srgbClr val="CC01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Limi</a:t>
            </a:r>
            <a:r>
              <a:rPr lang="en-US" b="true" sz="3799">
                <a:solidFill>
                  <a:srgbClr val="CC01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tation:</a:t>
            </a:r>
            <a:r>
              <a:rPr lang="en-US" b="true" sz="3799">
                <a:solidFill>
                  <a:srgbClr val="FF5757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  </a:t>
            </a:r>
            <a:r>
              <a:rPr lang="en-US" b="true" sz="3799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Missed purchases due to class imbalance</a:t>
            </a:r>
          </a:p>
        </p:txBody>
      </p:sp>
    </p:spTree>
  </p:cSld>
  <p:clrMapOvr>
    <a:masterClrMapping/>
  </p:clrMapOvr>
  <p:transition spd="fast">
    <p:wipe dir="r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4942" y="1490304"/>
            <a:ext cx="15738117" cy="7625817"/>
            <a:chOff x="0" y="0"/>
            <a:chExt cx="4145018" cy="20084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5018" cy="2008446"/>
            </a:xfrm>
            <a:custGeom>
              <a:avLst/>
              <a:gdLst/>
              <a:ahLst/>
              <a:cxnLst/>
              <a:rect r="r" b="b" t="t" l="l"/>
              <a:pathLst>
                <a:path h="2008446" w="4145018">
                  <a:moveTo>
                    <a:pt x="8363" y="0"/>
                  </a:moveTo>
                  <a:lnTo>
                    <a:pt x="4136656" y="0"/>
                  </a:lnTo>
                  <a:cubicBezTo>
                    <a:pt x="4141274" y="0"/>
                    <a:pt x="4145018" y="3744"/>
                    <a:pt x="4145018" y="8363"/>
                  </a:cubicBezTo>
                  <a:lnTo>
                    <a:pt x="4145018" y="2000083"/>
                  </a:lnTo>
                  <a:cubicBezTo>
                    <a:pt x="4145018" y="2002301"/>
                    <a:pt x="4144137" y="2004428"/>
                    <a:pt x="4142569" y="2005996"/>
                  </a:cubicBezTo>
                  <a:cubicBezTo>
                    <a:pt x="4141001" y="2007564"/>
                    <a:pt x="4138874" y="2008446"/>
                    <a:pt x="4136656" y="2008446"/>
                  </a:cubicBezTo>
                  <a:lnTo>
                    <a:pt x="8363" y="2008446"/>
                  </a:lnTo>
                  <a:cubicBezTo>
                    <a:pt x="3744" y="2008446"/>
                    <a:pt x="0" y="2004701"/>
                    <a:pt x="0" y="2000083"/>
                  </a:cubicBezTo>
                  <a:lnTo>
                    <a:pt x="0" y="8363"/>
                  </a:lnTo>
                  <a:cubicBezTo>
                    <a:pt x="0" y="6145"/>
                    <a:pt x="881" y="4018"/>
                    <a:pt x="2449" y="2449"/>
                  </a:cubicBezTo>
                  <a:cubicBezTo>
                    <a:pt x="4018" y="881"/>
                    <a:pt x="6145" y="0"/>
                    <a:pt x="8363" y="0"/>
                  </a:cubicBezTo>
                  <a:close/>
                </a:path>
              </a:pathLst>
            </a:custGeom>
            <a:solidFill>
              <a:srgbClr val="87A1D6">
                <a:alpha val="62745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45018" cy="2046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0" y="10070107"/>
          <a:ext cx="19191814" cy="5910453"/>
        </p:xfrm>
        <a:graphic>
          <a:graphicData uri="http://schemas.openxmlformats.org/drawingml/2006/table">
            <a:tbl>
              <a:tblPr/>
              <a:tblGrid>
                <a:gridCol w="19191814"/>
              </a:tblGrid>
              <a:tr h="59104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259"/>
                    </a:solidFill>
                  </a:tcPr>
                </a:tc>
              </a:tr>
            </a:tbl>
          </a:graphicData>
        </a:graphic>
      </p:graphicFrame>
      <p:sp>
        <p:nvSpPr>
          <p:cNvPr name="AutoShape 6" id="6"/>
          <p:cNvSpPr/>
          <p:nvPr/>
        </p:nvSpPr>
        <p:spPr>
          <a:xfrm>
            <a:off x="10734983" y="2908455"/>
            <a:ext cx="1423112" cy="632723"/>
          </a:xfrm>
          <a:prstGeom prst="line">
            <a:avLst/>
          </a:prstGeom>
          <a:ln cap="flat" w="38100">
            <a:solidFill>
              <a:srgbClr val="003F7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699267" y="2548700"/>
            <a:ext cx="8828367" cy="6153424"/>
          </a:xfrm>
          <a:custGeom>
            <a:avLst/>
            <a:gdLst/>
            <a:ahLst/>
            <a:cxnLst/>
            <a:rect r="r" b="b" t="t" l="l"/>
            <a:pathLst>
              <a:path h="6153424" w="8828367">
                <a:moveTo>
                  <a:pt x="0" y="0"/>
                </a:moveTo>
                <a:lnTo>
                  <a:pt x="8828367" y="0"/>
                </a:lnTo>
                <a:lnTo>
                  <a:pt x="8828367" y="6153424"/>
                </a:lnTo>
                <a:lnTo>
                  <a:pt x="0" y="61534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80" t="-4474" r="-5194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74942" y="691546"/>
            <a:ext cx="6867146" cy="74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91"/>
              </a:lnSpc>
              <a:spcBef>
                <a:spcPct val="0"/>
              </a:spcBef>
            </a:pPr>
            <a:r>
              <a:rPr lang="en-US" b="true" sz="5313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Purchase Distribution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09010" y="3661546"/>
            <a:ext cx="5498107" cy="4027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9548" indent="-309774" lvl="1">
              <a:lnSpc>
                <a:spcPts val="3529"/>
              </a:lnSpc>
              <a:buFont typeface="Arial"/>
              <a:buChar char="•"/>
            </a:pPr>
            <a:r>
              <a:rPr lang="en-US" sz="286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Majo</a:t>
            </a:r>
            <a:r>
              <a:rPr lang="en-US" sz="2869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rity of sessions result in n</a:t>
            </a:r>
            <a:r>
              <a:rPr lang="en-US" sz="2869" strike="noStrik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o purchase (10,422)</a:t>
            </a:r>
          </a:p>
          <a:p>
            <a:pPr algn="l" marL="619548" indent="-309774" lvl="1">
              <a:lnSpc>
                <a:spcPts val="3529"/>
              </a:lnSpc>
              <a:buFont typeface="Arial"/>
              <a:buChar char="•"/>
            </a:pPr>
            <a:r>
              <a:rPr lang="en-US" sz="2869" strike="noStrik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Only a small portion leads to purchase (1,908)</a:t>
            </a:r>
          </a:p>
          <a:p>
            <a:pPr algn="l" marL="619548" indent="-309774" lvl="1">
              <a:lnSpc>
                <a:spcPts val="3529"/>
              </a:lnSpc>
              <a:buFont typeface="Arial"/>
              <a:buChar char="•"/>
            </a:pPr>
            <a:r>
              <a:rPr lang="en-US" sz="2869" strike="noStrik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Dataset is highly imbalanced (~84.5% vs 15%)</a:t>
            </a:r>
          </a:p>
          <a:p>
            <a:pPr algn="l" marL="619548" indent="-309774" lvl="1">
              <a:lnSpc>
                <a:spcPts val="3529"/>
              </a:lnSpc>
              <a:buFont typeface="Arial"/>
              <a:buChar char="•"/>
            </a:pPr>
            <a:r>
              <a:rPr lang="en-US" sz="2869" strike="noStrik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Models may be biased toward predicting “no purchase”</a:t>
            </a:r>
          </a:p>
        </p:txBody>
      </p:sp>
    </p:spTree>
  </p:cSld>
  <p:clrMapOvr>
    <a:masterClrMapping/>
  </p:clrMapOvr>
  <p:transition spd="fast">
    <p:wipe dir="r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4942" y="1490304"/>
            <a:ext cx="15738117" cy="7625817"/>
            <a:chOff x="0" y="0"/>
            <a:chExt cx="4145018" cy="20084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45018" cy="2008446"/>
            </a:xfrm>
            <a:custGeom>
              <a:avLst/>
              <a:gdLst/>
              <a:ahLst/>
              <a:cxnLst/>
              <a:rect r="r" b="b" t="t" l="l"/>
              <a:pathLst>
                <a:path h="2008446" w="4145018">
                  <a:moveTo>
                    <a:pt x="8363" y="0"/>
                  </a:moveTo>
                  <a:lnTo>
                    <a:pt x="4136656" y="0"/>
                  </a:lnTo>
                  <a:cubicBezTo>
                    <a:pt x="4141274" y="0"/>
                    <a:pt x="4145018" y="3744"/>
                    <a:pt x="4145018" y="8363"/>
                  </a:cubicBezTo>
                  <a:lnTo>
                    <a:pt x="4145018" y="2000083"/>
                  </a:lnTo>
                  <a:cubicBezTo>
                    <a:pt x="4145018" y="2002301"/>
                    <a:pt x="4144137" y="2004428"/>
                    <a:pt x="4142569" y="2005996"/>
                  </a:cubicBezTo>
                  <a:cubicBezTo>
                    <a:pt x="4141001" y="2007564"/>
                    <a:pt x="4138874" y="2008446"/>
                    <a:pt x="4136656" y="2008446"/>
                  </a:cubicBezTo>
                  <a:lnTo>
                    <a:pt x="8363" y="2008446"/>
                  </a:lnTo>
                  <a:cubicBezTo>
                    <a:pt x="3744" y="2008446"/>
                    <a:pt x="0" y="2004701"/>
                    <a:pt x="0" y="2000083"/>
                  </a:cubicBezTo>
                  <a:lnTo>
                    <a:pt x="0" y="8363"/>
                  </a:lnTo>
                  <a:cubicBezTo>
                    <a:pt x="0" y="6145"/>
                    <a:pt x="881" y="4018"/>
                    <a:pt x="2449" y="2449"/>
                  </a:cubicBezTo>
                  <a:cubicBezTo>
                    <a:pt x="4018" y="881"/>
                    <a:pt x="6145" y="0"/>
                    <a:pt x="8363" y="0"/>
                  </a:cubicBezTo>
                  <a:close/>
                </a:path>
              </a:pathLst>
            </a:custGeom>
            <a:solidFill>
              <a:srgbClr val="87A1D6">
                <a:alpha val="62745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45018" cy="2046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991439" y="2435832"/>
            <a:ext cx="8545886" cy="5734762"/>
          </a:xfrm>
          <a:custGeom>
            <a:avLst/>
            <a:gdLst/>
            <a:ahLst/>
            <a:cxnLst/>
            <a:rect r="r" b="b" t="t" l="l"/>
            <a:pathLst>
              <a:path h="5734762" w="8545886">
                <a:moveTo>
                  <a:pt x="0" y="0"/>
                </a:moveTo>
                <a:lnTo>
                  <a:pt x="8545886" y="0"/>
                </a:lnTo>
                <a:lnTo>
                  <a:pt x="8545886" y="5734762"/>
                </a:lnTo>
                <a:lnTo>
                  <a:pt x="0" y="57347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3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74942" y="691546"/>
            <a:ext cx="4564400" cy="74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91"/>
              </a:lnSpc>
              <a:spcBef>
                <a:spcPct val="0"/>
              </a:spcBef>
            </a:pPr>
            <a:r>
              <a:rPr lang="en-US" b="true" sz="5313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F1 Compariso</a:t>
            </a:r>
            <a:r>
              <a:rPr lang="en-US" b="true" sz="5313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n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0" y="10070107"/>
          <a:ext cx="19191814" cy="5910453"/>
        </p:xfrm>
        <a:graphic>
          <a:graphicData uri="http://schemas.openxmlformats.org/drawingml/2006/table">
            <a:tbl>
              <a:tblPr/>
              <a:tblGrid>
                <a:gridCol w="19191814"/>
              </a:tblGrid>
              <a:tr h="59104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259"/>
                    </a:solidFill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547461" y="3481292"/>
            <a:ext cx="6443978" cy="3685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26133" indent="-363066" lvl="1">
              <a:lnSpc>
                <a:spcPts val="3665"/>
              </a:lnSpc>
              <a:buFont typeface="Arial"/>
              <a:buChar char="•"/>
            </a:pPr>
            <a:r>
              <a:rPr lang="en-US" sz="3363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Best metric for imbalanced classification</a:t>
            </a:r>
          </a:p>
          <a:p>
            <a:pPr algn="ctr" marL="726133" indent="-363066" lvl="1">
              <a:lnSpc>
                <a:spcPts val="3665"/>
              </a:lnSpc>
              <a:spcBef>
                <a:spcPct val="0"/>
              </a:spcBef>
              <a:buFont typeface="Arial"/>
              <a:buChar char="•"/>
            </a:pPr>
            <a:r>
              <a:rPr lang="en-US" sz="3363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Balances Precision and</a:t>
            </a:r>
            <a:r>
              <a:rPr lang="en-US" sz="3363" strike="noStrik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 Recall</a:t>
            </a:r>
          </a:p>
          <a:p>
            <a:pPr algn="ctr" marL="726133" indent="-363066" lvl="1">
              <a:lnSpc>
                <a:spcPts val="3665"/>
              </a:lnSpc>
              <a:spcBef>
                <a:spcPct val="0"/>
              </a:spcBef>
              <a:buFont typeface="Arial"/>
              <a:buChar char="•"/>
            </a:pPr>
            <a:r>
              <a:rPr lang="en-US" sz="3363" strike="noStrik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More reliable than accuracy alone</a:t>
            </a:r>
          </a:p>
          <a:p>
            <a:pPr algn="ctr" marL="726133" indent="-363066" lvl="1">
              <a:lnSpc>
                <a:spcPts val="3665"/>
              </a:lnSpc>
              <a:spcBef>
                <a:spcPct val="0"/>
              </a:spcBef>
              <a:buFont typeface="Arial"/>
              <a:buChar char="•"/>
            </a:pPr>
            <a:r>
              <a:rPr lang="en-US" sz="3363" strike="noStrike">
                <a:solidFill>
                  <a:srgbClr val="000000"/>
                </a:solidFill>
                <a:latin typeface="Nourd"/>
                <a:ea typeface="Nourd"/>
                <a:cs typeface="Nourd"/>
                <a:sym typeface="Nourd"/>
              </a:rPr>
              <a:t>Random Forest achieves highest F1-score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6900732" y="2221711"/>
            <a:ext cx="1361992" cy="755357"/>
          </a:xfrm>
          <a:prstGeom prst="line">
            <a:avLst/>
          </a:prstGeom>
          <a:ln cap="flat" w="38100">
            <a:solidFill>
              <a:srgbClr val="003F7F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0" y="10070107"/>
          <a:ext cx="19191814" cy="5910453"/>
        </p:xfrm>
        <a:graphic>
          <a:graphicData uri="http://schemas.openxmlformats.org/drawingml/2006/table">
            <a:tbl>
              <a:tblPr/>
              <a:tblGrid>
                <a:gridCol w="19191814"/>
              </a:tblGrid>
              <a:tr h="59104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259"/>
                    </a:solidFill>
                  </a:tcPr>
                </a:tc>
              </a:tr>
            </a:tbl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374704" y="2119960"/>
            <a:ext cx="9010628" cy="5453801"/>
          </a:xfrm>
          <a:custGeom>
            <a:avLst/>
            <a:gdLst/>
            <a:ahLst/>
            <a:cxnLst/>
            <a:rect r="r" b="b" t="t" l="l"/>
            <a:pathLst>
              <a:path h="5453801" w="9010628">
                <a:moveTo>
                  <a:pt x="0" y="0"/>
                </a:moveTo>
                <a:lnTo>
                  <a:pt x="9010628" y="0"/>
                </a:lnTo>
                <a:lnTo>
                  <a:pt x="9010628" y="5453801"/>
                </a:lnTo>
                <a:lnTo>
                  <a:pt x="0" y="5453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95907" y="2119960"/>
            <a:ext cx="8124236" cy="4529261"/>
          </a:xfrm>
          <a:custGeom>
            <a:avLst/>
            <a:gdLst/>
            <a:ahLst/>
            <a:cxnLst/>
            <a:rect r="r" b="b" t="t" l="l"/>
            <a:pathLst>
              <a:path h="4529261" w="8124236">
                <a:moveTo>
                  <a:pt x="0" y="0"/>
                </a:moveTo>
                <a:lnTo>
                  <a:pt x="8124236" y="0"/>
                </a:lnTo>
                <a:lnTo>
                  <a:pt x="8124236" y="4529261"/>
                </a:lnTo>
                <a:lnTo>
                  <a:pt x="0" y="45292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45970"/>
            <a:ext cx="11020697" cy="74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91"/>
              </a:lnSpc>
              <a:spcBef>
                <a:spcPct val="0"/>
              </a:spcBef>
            </a:pPr>
            <a:r>
              <a:rPr lang="en-US" b="true" sz="5313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Feature Importance — Key Drivers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89723" y="8185476"/>
            <a:ext cx="10791218" cy="130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2954" indent="-341477" lvl="1">
              <a:lnSpc>
                <a:spcPts val="3447"/>
              </a:lnSpc>
              <a:buFont typeface="Arial"/>
              <a:buChar char="•"/>
            </a:pPr>
            <a:r>
              <a:rPr lang="en-US" sz="3163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Identifies most influential features</a:t>
            </a:r>
          </a:p>
          <a:p>
            <a:pPr algn="l" marL="682954" indent="-341477" lvl="1">
              <a:lnSpc>
                <a:spcPts val="3447"/>
              </a:lnSpc>
              <a:buFont typeface="Arial"/>
              <a:buChar char="•"/>
            </a:pPr>
            <a:r>
              <a:rPr lang="en-US" sz="3163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Top features: PageValues, ExitRates, ProductRelated, etc.</a:t>
            </a:r>
          </a:p>
          <a:p>
            <a:pPr algn="l" marL="682954" indent="-341477" lvl="1">
              <a:lnSpc>
                <a:spcPts val="3447"/>
              </a:lnSpc>
              <a:spcBef>
                <a:spcPct val="0"/>
              </a:spcBef>
              <a:buFont typeface="Arial"/>
              <a:buChar char="•"/>
            </a:pPr>
            <a:r>
              <a:rPr lang="en-US" sz="3163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Helps understand customer behavior</a:t>
            </a:r>
          </a:p>
        </p:txBody>
      </p:sp>
      <p:sp>
        <p:nvSpPr>
          <p:cNvPr name="AutoShape 7" id="7"/>
          <p:cNvSpPr/>
          <p:nvPr/>
        </p:nvSpPr>
        <p:spPr>
          <a:xfrm flipH="true">
            <a:off x="11442612" y="7069258"/>
            <a:ext cx="910013" cy="1263907"/>
          </a:xfrm>
          <a:prstGeom prst="line">
            <a:avLst/>
          </a:prstGeom>
          <a:ln cap="flat" w="38100">
            <a:solidFill>
              <a:srgbClr val="003F7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8" id="8"/>
          <p:cNvSpPr/>
          <p:nvPr/>
        </p:nvSpPr>
        <p:spPr>
          <a:xfrm>
            <a:off x="2426914" y="7945049"/>
            <a:ext cx="1364205" cy="751352"/>
          </a:xfrm>
          <a:prstGeom prst="line">
            <a:avLst/>
          </a:prstGeom>
          <a:ln cap="flat" w="38100">
            <a:solidFill>
              <a:srgbClr val="003F7F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0" y="10070107"/>
          <a:ext cx="19191814" cy="5910453"/>
        </p:xfrm>
        <a:graphic>
          <a:graphicData uri="http://schemas.openxmlformats.org/drawingml/2006/table">
            <a:tbl>
              <a:tblPr/>
              <a:tblGrid>
                <a:gridCol w="19191814"/>
              </a:tblGrid>
              <a:tr h="59104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259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Object 3" id="3"/>
          <p:cNvGraphicFramePr/>
          <p:nvPr/>
        </p:nvGraphicFramePr>
        <p:xfrm>
          <a:off x="1834760" y="2726385"/>
          <a:ext cx="3771900" cy="3143250"/>
        </p:xfrm>
        <a:graphic>
          <a:graphicData uri="http://schemas.openxmlformats.org/presentationml/2006/ole">
            <p:oleObj imgW="4521200" imgH="3886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3527389" y="2895859"/>
          <a:ext cx="3503599" cy="567357"/>
        </p:xfrm>
        <a:graphic>
          <a:graphicData uri="http://schemas.openxmlformats.org/drawingml/2006/table">
            <a:tbl>
              <a:tblPr/>
              <a:tblGrid>
                <a:gridCol w="3122602"/>
              </a:tblGrid>
              <a:tr h="338183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9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100">
                          <a:solidFill>
                            <a:srgbClr val="F8F7F2"/>
                          </a:solidFill>
                          <a:latin typeface="TT Commons Pro Bold"/>
                          <a:ea typeface="TT Commons Pro Bold"/>
                          <a:cs typeface="TT Commons Pro Bold"/>
                          <a:sym typeface="TT Commons Pro Bold"/>
                        </a:rPr>
                        <a:t>LIMITATIONS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259"/>
                    </a:solidFill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00" y="691546"/>
            <a:ext cx="11777996" cy="74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91"/>
              </a:lnSpc>
              <a:spcBef>
                <a:spcPct val="0"/>
              </a:spcBef>
            </a:pPr>
            <a:r>
              <a:rPr lang="en-US" b="true" sz="5313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Limitations of the Modeling Approach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0925297" y="2895859"/>
          <a:ext cx="3503599" cy="567357"/>
        </p:xfrm>
        <a:graphic>
          <a:graphicData uri="http://schemas.openxmlformats.org/drawingml/2006/table">
            <a:tbl>
              <a:tblPr/>
              <a:tblGrid>
                <a:gridCol w="3122602"/>
              </a:tblGrid>
              <a:tr h="338183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9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2100">
                          <a:solidFill>
                            <a:srgbClr val="F8F7F2"/>
                          </a:solidFill>
                          <a:latin typeface="TT Commons Pro Bold"/>
                          <a:ea typeface="TT Commons Pro Bold"/>
                          <a:cs typeface="TT Commons Pro Bold"/>
                          <a:sym typeface="TT Commons Pro Bold"/>
                        </a:rPr>
                        <a:t>DESCRIPTION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259"/>
                    </a:solidFill>
                  </a:tcPr>
                </a:tc>
              </a:tr>
            </a:tbl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1028700" y="8314946"/>
            <a:ext cx="1071993" cy="943354"/>
          </a:xfrm>
          <a:custGeom>
            <a:avLst/>
            <a:gdLst/>
            <a:ahLst/>
            <a:cxnLst/>
            <a:rect r="r" b="b" t="t" l="l"/>
            <a:pathLst>
              <a:path h="943354" w="1071993">
                <a:moveTo>
                  <a:pt x="0" y="0"/>
                </a:moveTo>
                <a:lnTo>
                  <a:pt x="1071993" y="0"/>
                </a:lnTo>
                <a:lnTo>
                  <a:pt x="1071993" y="943354"/>
                </a:lnTo>
                <a:lnTo>
                  <a:pt x="0" y="94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0" y="10070107"/>
          <a:ext cx="19191814" cy="5910453"/>
        </p:xfrm>
        <a:graphic>
          <a:graphicData uri="http://schemas.openxmlformats.org/drawingml/2006/table">
            <a:tbl>
              <a:tblPr/>
              <a:tblGrid>
                <a:gridCol w="19191814"/>
              </a:tblGrid>
              <a:tr h="59104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259"/>
                    </a:solidFill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1407981" y="1592642"/>
            <a:ext cx="15472039" cy="7482544"/>
            <a:chOff x="0" y="0"/>
            <a:chExt cx="4074940" cy="19707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74940" cy="1970711"/>
            </a:xfrm>
            <a:custGeom>
              <a:avLst/>
              <a:gdLst/>
              <a:ahLst/>
              <a:cxnLst/>
              <a:rect r="r" b="b" t="t" l="l"/>
              <a:pathLst>
                <a:path h="1970711" w="4074940">
                  <a:moveTo>
                    <a:pt x="8506" y="0"/>
                  </a:moveTo>
                  <a:lnTo>
                    <a:pt x="4066434" y="0"/>
                  </a:lnTo>
                  <a:cubicBezTo>
                    <a:pt x="4068690" y="0"/>
                    <a:pt x="4070854" y="896"/>
                    <a:pt x="4072449" y="2491"/>
                  </a:cubicBezTo>
                  <a:cubicBezTo>
                    <a:pt x="4074044" y="4087"/>
                    <a:pt x="4074940" y="6250"/>
                    <a:pt x="4074940" y="8506"/>
                  </a:cubicBezTo>
                  <a:lnTo>
                    <a:pt x="4074940" y="1962205"/>
                  </a:lnTo>
                  <a:cubicBezTo>
                    <a:pt x="4074940" y="1966903"/>
                    <a:pt x="4071132" y="1970711"/>
                    <a:pt x="4066434" y="1970711"/>
                  </a:cubicBezTo>
                  <a:lnTo>
                    <a:pt x="8506" y="1970711"/>
                  </a:lnTo>
                  <a:cubicBezTo>
                    <a:pt x="6250" y="1970711"/>
                    <a:pt x="4087" y="1969815"/>
                    <a:pt x="2491" y="1968220"/>
                  </a:cubicBezTo>
                  <a:cubicBezTo>
                    <a:pt x="896" y="1966625"/>
                    <a:pt x="0" y="1964461"/>
                    <a:pt x="0" y="1962205"/>
                  </a:cubicBezTo>
                  <a:lnTo>
                    <a:pt x="0" y="8506"/>
                  </a:lnTo>
                  <a:cubicBezTo>
                    <a:pt x="0" y="3808"/>
                    <a:pt x="3808" y="0"/>
                    <a:pt x="8506" y="0"/>
                  </a:cubicBezTo>
                  <a:close/>
                </a:path>
              </a:pathLst>
            </a:custGeom>
            <a:solidFill>
              <a:srgbClr val="87A1D6">
                <a:alpha val="6274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074940" cy="20088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691546"/>
            <a:ext cx="7397943" cy="740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91"/>
              </a:lnSpc>
              <a:spcBef>
                <a:spcPct val="0"/>
              </a:spcBef>
            </a:pPr>
            <a:r>
              <a:rPr lang="en-US" b="true" sz="5313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Summary &amp; 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60391" y="2698535"/>
            <a:ext cx="12367219" cy="5232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82954" indent="-341477" lvl="1">
              <a:lnSpc>
                <a:spcPts val="4143"/>
              </a:lnSpc>
              <a:buFont typeface="Arial"/>
              <a:buChar char="•"/>
            </a:pPr>
            <a:r>
              <a:rPr lang="en-US" sz="3163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End-to-end approach: </a:t>
            </a:r>
          </a:p>
          <a:p>
            <a:pPr algn="ctr">
              <a:lnSpc>
                <a:spcPts val="4143"/>
              </a:lnSpc>
            </a:pPr>
            <a:r>
              <a:rPr lang="en-US" sz="3163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preprocessing → modeling → evaluation</a:t>
            </a:r>
          </a:p>
          <a:p>
            <a:pPr algn="just" marL="682954" indent="-341477" lvl="1">
              <a:lnSpc>
                <a:spcPts val="4143"/>
              </a:lnSpc>
              <a:buFont typeface="Arial"/>
              <a:buChar char="•"/>
            </a:pPr>
            <a:r>
              <a:rPr lang="en-US" sz="3163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Comparative analysis of Logistic Regression, Decision </a:t>
            </a:r>
            <a:r>
              <a:rPr lang="en-US" sz="3163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Tree, and Random Forest</a:t>
            </a:r>
          </a:p>
          <a:p>
            <a:pPr algn="just" marL="682954" indent="-341477" lvl="1">
              <a:lnSpc>
                <a:spcPts val="4143"/>
              </a:lnSpc>
              <a:buFont typeface="Arial"/>
              <a:buChar char="•"/>
            </a:pPr>
            <a:r>
              <a:rPr lang="en-US" sz="3163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Random Forest emerged as the most robust and consistent model</a:t>
            </a:r>
          </a:p>
          <a:p>
            <a:pPr algn="just" marL="682954" indent="-341477" lvl="1">
              <a:lnSpc>
                <a:spcPts val="4143"/>
              </a:lnSpc>
              <a:buFont typeface="Arial"/>
              <a:buChar char="•"/>
            </a:pPr>
            <a:r>
              <a:rPr lang="en-US" sz="3163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K</a:t>
            </a:r>
            <a:r>
              <a:rPr lang="en-US" sz="3163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ey behavioral factors influencing purchase were identified</a:t>
            </a:r>
          </a:p>
          <a:p>
            <a:pPr algn="just" marL="682954" indent="-341477" lvl="1">
              <a:lnSpc>
                <a:spcPts val="4143"/>
              </a:lnSpc>
              <a:buFont typeface="Arial"/>
              <a:buChar char="•"/>
            </a:pPr>
            <a:r>
              <a:rPr lang="en-US" sz="3163">
                <a:solidFill>
                  <a:srgbClr val="000000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Approach supports data-driven decision-making in e-commerce</a:t>
            </a:r>
          </a:p>
          <a:p>
            <a:pPr algn="just">
              <a:lnSpc>
                <a:spcPts val="4143"/>
              </a:lnSpc>
            </a:pPr>
          </a:p>
          <a:p>
            <a:pPr algn="just">
              <a:lnSpc>
                <a:spcPts val="4143"/>
              </a:lnSpc>
            </a:pPr>
            <a:r>
              <a:rPr lang="en-US" b="true" sz="3163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⟶ Turning data into insight is good, turning it into decisions is what creates impact.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371489" y="3707585"/>
            <a:ext cx="308069" cy="2871830"/>
          </a:xfrm>
          <a:custGeom>
            <a:avLst/>
            <a:gdLst/>
            <a:ahLst/>
            <a:cxnLst/>
            <a:rect r="r" b="b" t="t" l="l"/>
            <a:pathLst>
              <a:path h="2871830" w="308069">
                <a:moveTo>
                  <a:pt x="0" y="0"/>
                </a:moveTo>
                <a:lnTo>
                  <a:pt x="308069" y="0"/>
                </a:lnTo>
                <a:lnTo>
                  <a:pt x="308069" y="2871830"/>
                </a:lnTo>
                <a:lnTo>
                  <a:pt x="0" y="2871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540288" y="9770920"/>
          <a:ext cx="17747712" cy="1326482"/>
        </p:xfrm>
        <a:graphic>
          <a:graphicData uri="http://schemas.openxmlformats.org/drawingml/2006/table">
            <a:tbl>
              <a:tblPr/>
              <a:tblGrid>
                <a:gridCol w="17747712"/>
              </a:tblGrid>
              <a:tr h="9515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259"/>
                    </a:solidFill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-2545812" y="-335074"/>
            <a:ext cx="3086100" cy="11733565"/>
            <a:chOff x="0" y="0"/>
            <a:chExt cx="812800" cy="30903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3090322"/>
            </a:xfrm>
            <a:custGeom>
              <a:avLst/>
              <a:gdLst/>
              <a:ahLst/>
              <a:cxnLst/>
              <a:rect r="r" b="b" t="t" l="l"/>
              <a:pathLst>
                <a:path h="309032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090322"/>
                  </a:lnTo>
                  <a:lnTo>
                    <a:pt x="0" y="3090322"/>
                  </a:lnTo>
                  <a:close/>
                </a:path>
              </a:pathLst>
            </a:custGeom>
            <a:solidFill>
              <a:srgbClr val="87A1D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12800" cy="3128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478525" y="2316463"/>
            <a:ext cx="12952390" cy="2827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00"/>
              </a:lnSpc>
              <a:spcBef>
                <a:spcPct val="0"/>
              </a:spcBef>
            </a:pPr>
            <a:r>
              <a:rPr lang="en-US" b="true" sz="10092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FURTHER CODE EXPLANATION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42971" y="5200650"/>
            <a:ext cx="6309927" cy="719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83"/>
              </a:lnSpc>
              <a:spcBef>
                <a:spcPct val="0"/>
              </a:spcBef>
            </a:pPr>
            <a:r>
              <a:rPr lang="en-US" sz="5122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⟶ run the model 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028700" y="9426584"/>
          <a:ext cx="17747712" cy="1326482"/>
        </p:xfrm>
        <a:graphic>
          <a:graphicData uri="http://schemas.openxmlformats.org/drawingml/2006/table">
            <a:tbl>
              <a:tblPr/>
              <a:tblGrid>
                <a:gridCol w="17747712"/>
              </a:tblGrid>
              <a:tr h="95151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95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1259"/>
                    </a:solidFill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-2057400" y="-406408"/>
            <a:ext cx="3086100" cy="11733565"/>
            <a:chOff x="0" y="0"/>
            <a:chExt cx="812800" cy="30903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3090322"/>
            </a:xfrm>
            <a:custGeom>
              <a:avLst/>
              <a:gdLst/>
              <a:ahLst/>
              <a:cxnLst/>
              <a:rect r="r" b="b" t="t" l="l"/>
              <a:pathLst>
                <a:path h="309032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090322"/>
                  </a:lnTo>
                  <a:lnTo>
                    <a:pt x="0" y="3090322"/>
                  </a:lnTo>
                  <a:close/>
                </a:path>
              </a:pathLst>
            </a:custGeom>
            <a:solidFill>
              <a:srgbClr val="87A1D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12800" cy="3128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816960" y="4749463"/>
            <a:ext cx="7292369" cy="1436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000"/>
              </a:lnSpc>
              <a:spcBef>
                <a:spcPct val="0"/>
              </a:spcBef>
            </a:pPr>
            <a:r>
              <a:rPr lang="en-US" b="true" sz="10092">
                <a:solidFill>
                  <a:srgbClr val="091259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16960" y="5927026"/>
            <a:ext cx="6309927" cy="719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83"/>
              </a:lnSpc>
              <a:spcBef>
                <a:spcPct val="0"/>
              </a:spcBef>
            </a:pPr>
            <a:r>
              <a:rPr lang="en-US" sz="5122">
                <a:solidFill>
                  <a:srgbClr val="091259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DAHICuaEmqI</dc:identifier>
  <dcterms:modified xsi:type="dcterms:W3CDTF">2011-08-01T06:04:30Z</dcterms:modified>
  <cp:revision>1</cp:revision>
  <dc:title>data mining presentation</dc:title>
</cp:coreProperties>
</file>